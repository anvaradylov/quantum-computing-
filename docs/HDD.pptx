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59" r:id="rId4"/>
    <p:sldId id="257" r:id="rId5"/>
    <p:sldId id="261" r:id="rId6"/>
    <p:sldId id="25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75" d="100"/>
          <a:sy n="75" d="100"/>
        </p:scale>
        <p:origin x="5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E42EA-972C-4992-968C-270BFC9520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4F65D50-49FC-4FC6-9308-610409701C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31A713A-E1DD-497C-BE63-E25F0452C7CB}"/>
              </a:ext>
            </a:extLst>
          </p:cNvPr>
          <p:cNvSpPr>
            <a:spLocks noGrp="1"/>
          </p:cNvSpPr>
          <p:nvPr>
            <p:ph type="dt" sz="half" idx="10"/>
          </p:nvPr>
        </p:nvSpPr>
        <p:spPr/>
        <p:txBody>
          <a:bodyPr/>
          <a:lstStyle/>
          <a:p>
            <a:fld id="{338526EF-3BDD-46E3-A533-B8E9C0DC9F1B}" type="datetimeFigureOut">
              <a:rPr lang="en-US" smtClean="0"/>
              <a:t>9/13/2019</a:t>
            </a:fld>
            <a:endParaRPr lang="en-US"/>
          </a:p>
        </p:txBody>
      </p:sp>
      <p:sp>
        <p:nvSpPr>
          <p:cNvPr id="5" name="Footer Placeholder 4">
            <a:extLst>
              <a:ext uri="{FF2B5EF4-FFF2-40B4-BE49-F238E27FC236}">
                <a16:creationId xmlns:a16="http://schemas.microsoft.com/office/drawing/2014/main" id="{9A9D5EFE-2CBD-4741-BDD8-3A6A514782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4DB9D5-CDFF-42C8-809D-BA008F6A1675}"/>
              </a:ext>
            </a:extLst>
          </p:cNvPr>
          <p:cNvSpPr>
            <a:spLocks noGrp="1"/>
          </p:cNvSpPr>
          <p:nvPr>
            <p:ph type="sldNum" sz="quarter" idx="12"/>
          </p:nvPr>
        </p:nvSpPr>
        <p:spPr/>
        <p:txBody>
          <a:bodyPr/>
          <a:lstStyle/>
          <a:p>
            <a:fld id="{65832F89-E1E7-47C4-9FD6-4A1200396FF6}" type="slidenum">
              <a:rPr lang="en-US" smtClean="0"/>
              <a:t>‹#›</a:t>
            </a:fld>
            <a:endParaRPr lang="en-US"/>
          </a:p>
        </p:txBody>
      </p:sp>
    </p:spTree>
    <p:extLst>
      <p:ext uri="{BB962C8B-B14F-4D97-AF65-F5344CB8AC3E}">
        <p14:creationId xmlns:p14="http://schemas.microsoft.com/office/powerpoint/2010/main" val="3082580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3BFC3-64F0-48A3-BB34-D37C363C22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D1D5A8-D191-4E26-835E-FC54D9CA34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040F07-68A1-431C-8EEF-162F99B56905}"/>
              </a:ext>
            </a:extLst>
          </p:cNvPr>
          <p:cNvSpPr>
            <a:spLocks noGrp="1"/>
          </p:cNvSpPr>
          <p:nvPr>
            <p:ph type="dt" sz="half" idx="10"/>
          </p:nvPr>
        </p:nvSpPr>
        <p:spPr/>
        <p:txBody>
          <a:bodyPr/>
          <a:lstStyle/>
          <a:p>
            <a:fld id="{338526EF-3BDD-46E3-A533-B8E9C0DC9F1B}" type="datetimeFigureOut">
              <a:rPr lang="en-US" smtClean="0"/>
              <a:t>9/13/2019</a:t>
            </a:fld>
            <a:endParaRPr lang="en-US"/>
          </a:p>
        </p:txBody>
      </p:sp>
      <p:sp>
        <p:nvSpPr>
          <p:cNvPr id="5" name="Footer Placeholder 4">
            <a:extLst>
              <a:ext uri="{FF2B5EF4-FFF2-40B4-BE49-F238E27FC236}">
                <a16:creationId xmlns:a16="http://schemas.microsoft.com/office/drawing/2014/main" id="{240F8EC8-F0F7-4BF8-8C02-02EA51D23C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1E3D7C-7C86-4D65-A299-9EC80FACE284}"/>
              </a:ext>
            </a:extLst>
          </p:cNvPr>
          <p:cNvSpPr>
            <a:spLocks noGrp="1"/>
          </p:cNvSpPr>
          <p:nvPr>
            <p:ph type="sldNum" sz="quarter" idx="12"/>
          </p:nvPr>
        </p:nvSpPr>
        <p:spPr/>
        <p:txBody>
          <a:bodyPr/>
          <a:lstStyle/>
          <a:p>
            <a:fld id="{65832F89-E1E7-47C4-9FD6-4A1200396FF6}" type="slidenum">
              <a:rPr lang="en-US" smtClean="0"/>
              <a:t>‹#›</a:t>
            </a:fld>
            <a:endParaRPr lang="en-US"/>
          </a:p>
        </p:txBody>
      </p:sp>
    </p:spTree>
    <p:extLst>
      <p:ext uri="{BB962C8B-B14F-4D97-AF65-F5344CB8AC3E}">
        <p14:creationId xmlns:p14="http://schemas.microsoft.com/office/powerpoint/2010/main" val="3488807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F77A0-592E-44FC-874D-8A54593994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AEF79C2-D810-4B8F-B586-F84CE32182C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B39B2F-65A7-4186-B6AA-CFC53A48A0B7}"/>
              </a:ext>
            </a:extLst>
          </p:cNvPr>
          <p:cNvSpPr>
            <a:spLocks noGrp="1"/>
          </p:cNvSpPr>
          <p:nvPr>
            <p:ph type="dt" sz="half" idx="10"/>
          </p:nvPr>
        </p:nvSpPr>
        <p:spPr/>
        <p:txBody>
          <a:bodyPr/>
          <a:lstStyle/>
          <a:p>
            <a:fld id="{338526EF-3BDD-46E3-A533-B8E9C0DC9F1B}" type="datetimeFigureOut">
              <a:rPr lang="en-US" smtClean="0"/>
              <a:t>9/13/2019</a:t>
            </a:fld>
            <a:endParaRPr lang="en-US"/>
          </a:p>
        </p:txBody>
      </p:sp>
      <p:sp>
        <p:nvSpPr>
          <p:cNvPr id="5" name="Footer Placeholder 4">
            <a:extLst>
              <a:ext uri="{FF2B5EF4-FFF2-40B4-BE49-F238E27FC236}">
                <a16:creationId xmlns:a16="http://schemas.microsoft.com/office/drawing/2014/main" id="{E683B52E-5767-4E68-81CA-3D4292BDD0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27D855-93CE-4FF3-8556-192221BDE1BD}"/>
              </a:ext>
            </a:extLst>
          </p:cNvPr>
          <p:cNvSpPr>
            <a:spLocks noGrp="1"/>
          </p:cNvSpPr>
          <p:nvPr>
            <p:ph type="sldNum" sz="quarter" idx="12"/>
          </p:nvPr>
        </p:nvSpPr>
        <p:spPr/>
        <p:txBody>
          <a:bodyPr/>
          <a:lstStyle/>
          <a:p>
            <a:fld id="{65832F89-E1E7-47C4-9FD6-4A1200396FF6}" type="slidenum">
              <a:rPr lang="en-US" smtClean="0"/>
              <a:t>‹#›</a:t>
            </a:fld>
            <a:endParaRPr lang="en-US"/>
          </a:p>
        </p:txBody>
      </p:sp>
    </p:spTree>
    <p:extLst>
      <p:ext uri="{BB962C8B-B14F-4D97-AF65-F5344CB8AC3E}">
        <p14:creationId xmlns:p14="http://schemas.microsoft.com/office/powerpoint/2010/main" val="18978958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A2D05-1EE9-46EA-8F65-8EFA39C198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F6ABAA-D336-4B8A-AB6A-C940991B91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C5BD82-8BF5-40C4-960F-BA569F5646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D3CB000-B781-4F02-8E4E-9FBABBF0BD0B}"/>
              </a:ext>
            </a:extLst>
          </p:cNvPr>
          <p:cNvSpPr>
            <a:spLocks noGrp="1"/>
          </p:cNvSpPr>
          <p:nvPr>
            <p:ph type="dt" sz="half" idx="10"/>
          </p:nvPr>
        </p:nvSpPr>
        <p:spPr/>
        <p:txBody>
          <a:bodyPr/>
          <a:lstStyle/>
          <a:p>
            <a:fld id="{338526EF-3BDD-46E3-A533-B8E9C0DC9F1B}" type="datetimeFigureOut">
              <a:rPr lang="en-US" smtClean="0"/>
              <a:t>9/13/2019</a:t>
            </a:fld>
            <a:endParaRPr lang="en-US"/>
          </a:p>
        </p:txBody>
      </p:sp>
      <p:sp>
        <p:nvSpPr>
          <p:cNvPr id="6" name="Footer Placeholder 5">
            <a:extLst>
              <a:ext uri="{FF2B5EF4-FFF2-40B4-BE49-F238E27FC236}">
                <a16:creationId xmlns:a16="http://schemas.microsoft.com/office/drawing/2014/main" id="{BA32FFC5-BC66-4FCB-8591-D6B3319331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8F3645-F67C-49CA-BA2C-A8074A598940}"/>
              </a:ext>
            </a:extLst>
          </p:cNvPr>
          <p:cNvSpPr>
            <a:spLocks noGrp="1"/>
          </p:cNvSpPr>
          <p:nvPr>
            <p:ph type="sldNum" sz="quarter" idx="12"/>
          </p:nvPr>
        </p:nvSpPr>
        <p:spPr/>
        <p:txBody>
          <a:bodyPr/>
          <a:lstStyle/>
          <a:p>
            <a:fld id="{65832F89-E1E7-47C4-9FD6-4A1200396FF6}" type="slidenum">
              <a:rPr lang="en-US" smtClean="0"/>
              <a:t>‹#›</a:t>
            </a:fld>
            <a:endParaRPr lang="en-US"/>
          </a:p>
        </p:txBody>
      </p:sp>
    </p:spTree>
    <p:extLst>
      <p:ext uri="{BB962C8B-B14F-4D97-AF65-F5344CB8AC3E}">
        <p14:creationId xmlns:p14="http://schemas.microsoft.com/office/powerpoint/2010/main" val="25346027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73651-7773-4036-BB7C-81214418364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90831F9-BAF5-4448-9469-7416019B9B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1E035F-DBEA-4801-878A-2952F6CA55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EADB579-CEBC-41F1-8234-1EA3743015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1F14E5-5F45-45AD-9853-D92148E0ECC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A7C0BD8-C1AC-4DBD-92D6-2A436D468656}"/>
              </a:ext>
            </a:extLst>
          </p:cNvPr>
          <p:cNvSpPr>
            <a:spLocks noGrp="1"/>
          </p:cNvSpPr>
          <p:nvPr>
            <p:ph type="dt" sz="half" idx="10"/>
          </p:nvPr>
        </p:nvSpPr>
        <p:spPr/>
        <p:txBody>
          <a:bodyPr/>
          <a:lstStyle/>
          <a:p>
            <a:fld id="{338526EF-3BDD-46E3-A533-B8E9C0DC9F1B}" type="datetimeFigureOut">
              <a:rPr lang="en-US" smtClean="0"/>
              <a:t>9/13/2019</a:t>
            </a:fld>
            <a:endParaRPr lang="en-US"/>
          </a:p>
        </p:txBody>
      </p:sp>
      <p:sp>
        <p:nvSpPr>
          <p:cNvPr id="8" name="Footer Placeholder 7">
            <a:extLst>
              <a:ext uri="{FF2B5EF4-FFF2-40B4-BE49-F238E27FC236}">
                <a16:creationId xmlns:a16="http://schemas.microsoft.com/office/drawing/2014/main" id="{5E4EFBC4-5519-4D5D-8B61-17AD1B1DAE5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0A903C-888C-4463-9AD3-13F32515159D}"/>
              </a:ext>
            </a:extLst>
          </p:cNvPr>
          <p:cNvSpPr>
            <a:spLocks noGrp="1"/>
          </p:cNvSpPr>
          <p:nvPr>
            <p:ph type="sldNum" sz="quarter" idx="12"/>
          </p:nvPr>
        </p:nvSpPr>
        <p:spPr/>
        <p:txBody>
          <a:bodyPr/>
          <a:lstStyle/>
          <a:p>
            <a:fld id="{65832F89-E1E7-47C4-9FD6-4A1200396FF6}" type="slidenum">
              <a:rPr lang="en-US" smtClean="0"/>
              <a:t>‹#›</a:t>
            </a:fld>
            <a:endParaRPr lang="en-US"/>
          </a:p>
        </p:txBody>
      </p:sp>
    </p:spTree>
    <p:extLst>
      <p:ext uri="{BB962C8B-B14F-4D97-AF65-F5344CB8AC3E}">
        <p14:creationId xmlns:p14="http://schemas.microsoft.com/office/powerpoint/2010/main" val="54406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08049-46AC-4707-ACCF-B6B00BF5E5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80FA633-51E9-4950-AD71-098E7046017F}"/>
              </a:ext>
            </a:extLst>
          </p:cNvPr>
          <p:cNvSpPr>
            <a:spLocks noGrp="1"/>
          </p:cNvSpPr>
          <p:nvPr>
            <p:ph type="dt" sz="half" idx="10"/>
          </p:nvPr>
        </p:nvSpPr>
        <p:spPr/>
        <p:txBody>
          <a:bodyPr/>
          <a:lstStyle/>
          <a:p>
            <a:fld id="{338526EF-3BDD-46E3-A533-B8E9C0DC9F1B}" type="datetimeFigureOut">
              <a:rPr lang="en-US" smtClean="0"/>
              <a:t>9/13/2019</a:t>
            </a:fld>
            <a:endParaRPr lang="en-US"/>
          </a:p>
        </p:txBody>
      </p:sp>
      <p:sp>
        <p:nvSpPr>
          <p:cNvPr id="4" name="Footer Placeholder 3">
            <a:extLst>
              <a:ext uri="{FF2B5EF4-FFF2-40B4-BE49-F238E27FC236}">
                <a16:creationId xmlns:a16="http://schemas.microsoft.com/office/drawing/2014/main" id="{361155A7-365A-4D8B-B103-8CEF8F0AFAB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32F3278-9595-408C-B473-395621C38732}"/>
              </a:ext>
            </a:extLst>
          </p:cNvPr>
          <p:cNvSpPr>
            <a:spLocks noGrp="1"/>
          </p:cNvSpPr>
          <p:nvPr>
            <p:ph type="sldNum" sz="quarter" idx="12"/>
          </p:nvPr>
        </p:nvSpPr>
        <p:spPr/>
        <p:txBody>
          <a:bodyPr/>
          <a:lstStyle/>
          <a:p>
            <a:fld id="{65832F89-E1E7-47C4-9FD6-4A1200396FF6}" type="slidenum">
              <a:rPr lang="en-US" smtClean="0"/>
              <a:t>‹#›</a:t>
            </a:fld>
            <a:endParaRPr lang="en-US"/>
          </a:p>
        </p:txBody>
      </p:sp>
    </p:spTree>
    <p:extLst>
      <p:ext uri="{BB962C8B-B14F-4D97-AF65-F5344CB8AC3E}">
        <p14:creationId xmlns:p14="http://schemas.microsoft.com/office/powerpoint/2010/main" val="3970783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D8474E-7390-45CA-8CF6-505021C5E411}"/>
              </a:ext>
            </a:extLst>
          </p:cNvPr>
          <p:cNvSpPr>
            <a:spLocks noGrp="1"/>
          </p:cNvSpPr>
          <p:nvPr>
            <p:ph type="dt" sz="half" idx="10"/>
          </p:nvPr>
        </p:nvSpPr>
        <p:spPr/>
        <p:txBody>
          <a:bodyPr/>
          <a:lstStyle/>
          <a:p>
            <a:fld id="{338526EF-3BDD-46E3-A533-B8E9C0DC9F1B}" type="datetimeFigureOut">
              <a:rPr lang="en-US" smtClean="0"/>
              <a:t>9/13/2019</a:t>
            </a:fld>
            <a:endParaRPr lang="en-US"/>
          </a:p>
        </p:txBody>
      </p:sp>
      <p:sp>
        <p:nvSpPr>
          <p:cNvPr id="3" name="Footer Placeholder 2">
            <a:extLst>
              <a:ext uri="{FF2B5EF4-FFF2-40B4-BE49-F238E27FC236}">
                <a16:creationId xmlns:a16="http://schemas.microsoft.com/office/drawing/2014/main" id="{E169BDBA-D812-4618-AE7E-20D2EA75004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9486F93-149A-43A4-ABBB-64FB739CAF25}"/>
              </a:ext>
            </a:extLst>
          </p:cNvPr>
          <p:cNvSpPr>
            <a:spLocks noGrp="1"/>
          </p:cNvSpPr>
          <p:nvPr>
            <p:ph type="sldNum" sz="quarter" idx="12"/>
          </p:nvPr>
        </p:nvSpPr>
        <p:spPr/>
        <p:txBody>
          <a:bodyPr/>
          <a:lstStyle/>
          <a:p>
            <a:fld id="{65832F89-E1E7-47C4-9FD6-4A1200396FF6}" type="slidenum">
              <a:rPr lang="en-US" smtClean="0"/>
              <a:t>‹#›</a:t>
            </a:fld>
            <a:endParaRPr lang="en-US"/>
          </a:p>
        </p:txBody>
      </p:sp>
    </p:spTree>
    <p:extLst>
      <p:ext uri="{BB962C8B-B14F-4D97-AF65-F5344CB8AC3E}">
        <p14:creationId xmlns:p14="http://schemas.microsoft.com/office/powerpoint/2010/main" val="585376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4585E-8C7E-497C-A52C-2D0EF2155C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C3860DD-B47F-410A-A459-CE1383F014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95BA233-495C-4E10-896C-80C27553D7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30FCB5-39CD-4A4D-8873-4DD40EB057EF}"/>
              </a:ext>
            </a:extLst>
          </p:cNvPr>
          <p:cNvSpPr>
            <a:spLocks noGrp="1"/>
          </p:cNvSpPr>
          <p:nvPr>
            <p:ph type="dt" sz="half" idx="10"/>
          </p:nvPr>
        </p:nvSpPr>
        <p:spPr/>
        <p:txBody>
          <a:bodyPr/>
          <a:lstStyle/>
          <a:p>
            <a:fld id="{338526EF-3BDD-46E3-A533-B8E9C0DC9F1B}" type="datetimeFigureOut">
              <a:rPr lang="en-US" smtClean="0"/>
              <a:t>9/13/2019</a:t>
            </a:fld>
            <a:endParaRPr lang="en-US"/>
          </a:p>
        </p:txBody>
      </p:sp>
      <p:sp>
        <p:nvSpPr>
          <p:cNvPr id="6" name="Footer Placeholder 5">
            <a:extLst>
              <a:ext uri="{FF2B5EF4-FFF2-40B4-BE49-F238E27FC236}">
                <a16:creationId xmlns:a16="http://schemas.microsoft.com/office/drawing/2014/main" id="{770F384A-D6C0-4F48-BAAB-8ABD175FC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2D5719-244B-47DF-A96F-864DAF94A4BA}"/>
              </a:ext>
            </a:extLst>
          </p:cNvPr>
          <p:cNvSpPr>
            <a:spLocks noGrp="1"/>
          </p:cNvSpPr>
          <p:nvPr>
            <p:ph type="sldNum" sz="quarter" idx="12"/>
          </p:nvPr>
        </p:nvSpPr>
        <p:spPr/>
        <p:txBody>
          <a:bodyPr/>
          <a:lstStyle/>
          <a:p>
            <a:fld id="{65832F89-E1E7-47C4-9FD6-4A1200396FF6}" type="slidenum">
              <a:rPr lang="en-US" smtClean="0"/>
              <a:t>‹#›</a:t>
            </a:fld>
            <a:endParaRPr lang="en-US"/>
          </a:p>
        </p:txBody>
      </p:sp>
    </p:spTree>
    <p:extLst>
      <p:ext uri="{BB962C8B-B14F-4D97-AF65-F5344CB8AC3E}">
        <p14:creationId xmlns:p14="http://schemas.microsoft.com/office/powerpoint/2010/main" val="2140858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FEC3C-5200-49FC-B285-6133380948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B34B988-91E4-4DC7-8365-C0144E3DD5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AF95F97-1C1C-47B1-9170-D6C8BE9022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C411A1-01E5-4E5B-B26B-406CB5F6A259}"/>
              </a:ext>
            </a:extLst>
          </p:cNvPr>
          <p:cNvSpPr>
            <a:spLocks noGrp="1"/>
          </p:cNvSpPr>
          <p:nvPr>
            <p:ph type="dt" sz="half" idx="10"/>
          </p:nvPr>
        </p:nvSpPr>
        <p:spPr/>
        <p:txBody>
          <a:bodyPr/>
          <a:lstStyle/>
          <a:p>
            <a:fld id="{338526EF-3BDD-46E3-A533-B8E9C0DC9F1B}" type="datetimeFigureOut">
              <a:rPr lang="en-US" smtClean="0"/>
              <a:t>9/13/2019</a:t>
            </a:fld>
            <a:endParaRPr lang="en-US"/>
          </a:p>
        </p:txBody>
      </p:sp>
      <p:sp>
        <p:nvSpPr>
          <p:cNvPr id="6" name="Footer Placeholder 5">
            <a:extLst>
              <a:ext uri="{FF2B5EF4-FFF2-40B4-BE49-F238E27FC236}">
                <a16:creationId xmlns:a16="http://schemas.microsoft.com/office/drawing/2014/main" id="{52A94B65-0365-4037-A46E-17432DE527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81F0B-7D1C-4B21-B124-468A42552D4E}"/>
              </a:ext>
            </a:extLst>
          </p:cNvPr>
          <p:cNvSpPr>
            <a:spLocks noGrp="1"/>
          </p:cNvSpPr>
          <p:nvPr>
            <p:ph type="sldNum" sz="quarter" idx="12"/>
          </p:nvPr>
        </p:nvSpPr>
        <p:spPr/>
        <p:txBody>
          <a:bodyPr/>
          <a:lstStyle/>
          <a:p>
            <a:fld id="{65832F89-E1E7-47C4-9FD6-4A1200396FF6}" type="slidenum">
              <a:rPr lang="en-US" smtClean="0"/>
              <a:t>‹#›</a:t>
            </a:fld>
            <a:endParaRPr lang="en-US"/>
          </a:p>
        </p:txBody>
      </p:sp>
    </p:spTree>
    <p:extLst>
      <p:ext uri="{BB962C8B-B14F-4D97-AF65-F5344CB8AC3E}">
        <p14:creationId xmlns:p14="http://schemas.microsoft.com/office/powerpoint/2010/main" val="22738866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09705-5ECD-47F6-A9F8-F75D7AFE3A5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F2D90F-E727-4FF7-8F26-BCC7347A6BA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DA3BE0-D54E-4AE9-BC07-4B3F8035AE71}"/>
              </a:ext>
            </a:extLst>
          </p:cNvPr>
          <p:cNvSpPr>
            <a:spLocks noGrp="1"/>
          </p:cNvSpPr>
          <p:nvPr>
            <p:ph type="dt" sz="half" idx="10"/>
          </p:nvPr>
        </p:nvSpPr>
        <p:spPr/>
        <p:txBody>
          <a:bodyPr/>
          <a:lstStyle/>
          <a:p>
            <a:fld id="{338526EF-3BDD-46E3-A533-B8E9C0DC9F1B}" type="datetimeFigureOut">
              <a:rPr lang="en-US" smtClean="0"/>
              <a:t>9/13/2019</a:t>
            </a:fld>
            <a:endParaRPr lang="en-US"/>
          </a:p>
        </p:txBody>
      </p:sp>
      <p:sp>
        <p:nvSpPr>
          <p:cNvPr id="5" name="Footer Placeholder 4">
            <a:extLst>
              <a:ext uri="{FF2B5EF4-FFF2-40B4-BE49-F238E27FC236}">
                <a16:creationId xmlns:a16="http://schemas.microsoft.com/office/drawing/2014/main" id="{884A32B3-93A6-492C-B069-5A27A55A3E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903C0-3553-46C9-87A7-9C11BD12A74C}"/>
              </a:ext>
            </a:extLst>
          </p:cNvPr>
          <p:cNvSpPr>
            <a:spLocks noGrp="1"/>
          </p:cNvSpPr>
          <p:nvPr>
            <p:ph type="sldNum" sz="quarter" idx="12"/>
          </p:nvPr>
        </p:nvSpPr>
        <p:spPr/>
        <p:txBody>
          <a:bodyPr/>
          <a:lstStyle/>
          <a:p>
            <a:fld id="{65832F89-E1E7-47C4-9FD6-4A1200396FF6}" type="slidenum">
              <a:rPr lang="en-US" smtClean="0"/>
              <a:t>‹#›</a:t>
            </a:fld>
            <a:endParaRPr lang="en-US"/>
          </a:p>
        </p:txBody>
      </p:sp>
    </p:spTree>
    <p:extLst>
      <p:ext uri="{BB962C8B-B14F-4D97-AF65-F5344CB8AC3E}">
        <p14:creationId xmlns:p14="http://schemas.microsoft.com/office/powerpoint/2010/main" val="17586360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D4CE693-B2E8-47DC-BF73-3AE6AAFC3F7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1CA9072-F758-488F-BF56-A7EF7A1F045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EB4CCA-C9BF-4373-B3CB-31A412E7FE3C}"/>
              </a:ext>
            </a:extLst>
          </p:cNvPr>
          <p:cNvSpPr>
            <a:spLocks noGrp="1"/>
          </p:cNvSpPr>
          <p:nvPr>
            <p:ph type="dt" sz="half" idx="10"/>
          </p:nvPr>
        </p:nvSpPr>
        <p:spPr/>
        <p:txBody>
          <a:bodyPr/>
          <a:lstStyle/>
          <a:p>
            <a:fld id="{338526EF-3BDD-46E3-A533-B8E9C0DC9F1B}" type="datetimeFigureOut">
              <a:rPr lang="en-US" smtClean="0"/>
              <a:t>9/13/2019</a:t>
            </a:fld>
            <a:endParaRPr lang="en-US"/>
          </a:p>
        </p:txBody>
      </p:sp>
      <p:sp>
        <p:nvSpPr>
          <p:cNvPr id="5" name="Footer Placeholder 4">
            <a:extLst>
              <a:ext uri="{FF2B5EF4-FFF2-40B4-BE49-F238E27FC236}">
                <a16:creationId xmlns:a16="http://schemas.microsoft.com/office/drawing/2014/main" id="{ECAFC096-1874-4EF3-AACE-CDD3BAB7BC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33D9EF-2F42-4D65-A071-FFA567C69279}"/>
              </a:ext>
            </a:extLst>
          </p:cNvPr>
          <p:cNvSpPr>
            <a:spLocks noGrp="1"/>
          </p:cNvSpPr>
          <p:nvPr>
            <p:ph type="sldNum" sz="quarter" idx="12"/>
          </p:nvPr>
        </p:nvSpPr>
        <p:spPr/>
        <p:txBody>
          <a:bodyPr/>
          <a:lstStyle/>
          <a:p>
            <a:fld id="{65832F89-E1E7-47C4-9FD6-4A1200396FF6}" type="slidenum">
              <a:rPr lang="en-US" smtClean="0"/>
              <a:t>‹#›</a:t>
            </a:fld>
            <a:endParaRPr lang="en-US"/>
          </a:p>
        </p:txBody>
      </p:sp>
    </p:spTree>
    <p:extLst>
      <p:ext uri="{BB962C8B-B14F-4D97-AF65-F5344CB8AC3E}">
        <p14:creationId xmlns:p14="http://schemas.microsoft.com/office/powerpoint/2010/main" val="2663824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2116A2-FD1B-48BA-B0B0-F2A6DCCC82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0C9CE2-36D8-4796-800D-90C1A49569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17EB2B-5EA3-4526-9CD6-138C15FEEB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8526EF-3BDD-46E3-A533-B8E9C0DC9F1B}" type="datetimeFigureOut">
              <a:rPr lang="en-US" smtClean="0"/>
              <a:t>9/13/2019</a:t>
            </a:fld>
            <a:endParaRPr lang="en-US"/>
          </a:p>
        </p:txBody>
      </p:sp>
      <p:sp>
        <p:nvSpPr>
          <p:cNvPr id="5" name="Footer Placeholder 4">
            <a:extLst>
              <a:ext uri="{FF2B5EF4-FFF2-40B4-BE49-F238E27FC236}">
                <a16:creationId xmlns:a16="http://schemas.microsoft.com/office/drawing/2014/main" id="{8436683F-A9F3-429D-8385-F43163B991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50DDC91-0178-4889-B6FC-7FCEE72AF0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832F89-E1E7-47C4-9FD6-4A1200396FF6}" type="slidenum">
              <a:rPr lang="en-US" smtClean="0"/>
              <a:t>‹#›</a:t>
            </a:fld>
            <a:endParaRPr lang="en-US"/>
          </a:p>
        </p:txBody>
      </p:sp>
    </p:spTree>
    <p:extLst>
      <p:ext uri="{BB962C8B-B14F-4D97-AF65-F5344CB8AC3E}">
        <p14:creationId xmlns:p14="http://schemas.microsoft.com/office/powerpoint/2010/main" val="1542517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0B053-97B5-43EE-A0D3-8303A3E216B6}"/>
              </a:ext>
            </a:extLst>
          </p:cNvPr>
          <p:cNvSpPr>
            <a:spLocks noGrp="1"/>
          </p:cNvSpPr>
          <p:nvPr>
            <p:ph type="ctrTitle"/>
          </p:nvPr>
        </p:nvSpPr>
        <p:spPr>
          <a:xfrm>
            <a:off x="622300" y="381000"/>
            <a:ext cx="10223500" cy="3873500"/>
          </a:xfrm>
        </p:spPr>
        <p:txBody>
          <a:bodyPr>
            <a:normAutofit fontScale="90000"/>
          </a:bodyPr>
          <a:lstStyle/>
          <a:p>
            <a:r>
              <a:rPr lang="en-US" sz="7200" b="1" i="1" dirty="0"/>
              <a:t>HDD (</a:t>
            </a:r>
            <a:r>
              <a:rPr lang="en-US" dirty="0"/>
              <a:t> </a:t>
            </a:r>
            <a:r>
              <a:rPr lang="en-US" i="1" dirty="0"/>
              <a:t>hard (magnetic) disk drive</a:t>
            </a:r>
            <a:r>
              <a:rPr lang="en-US" sz="7200" b="1" i="1" dirty="0"/>
              <a:t>)</a:t>
            </a:r>
            <a:br>
              <a:rPr lang="en-US" sz="7200" b="1" i="1" dirty="0"/>
            </a:br>
            <a:r>
              <a:rPr lang="en-US" sz="7200" b="1" i="1" dirty="0"/>
              <a:t>Secondary memory storage</a:t>
            </a:r>
            <a:br>
              <a:rPr lang="en-US" sz="7200" b="1" i="1" dirty="0"/>
            </a:br>
            <a:r>
              <a:rPr lang="en-US" sz="7200" b="1" i="1" dirty="0"/>
              <a:t>device </a:t>
            </a:r>
          </a:p>
        </p:txBody>
      </p:sp>
      <p:sp>
        <p:nvSpPr>
          <p:cNvPr id="3" name="Subtitle 2">
            <a:extLst>
              <a:ext uri="{FF2B5EF4-FFF2-40B4-BE49-F238E27FC236}">
                <a16:creationId xmlns:a16="http://schemas.microsoft.com/office/drawing/2014/main" id="{F59E70F5-D2DB-4E7C-BE27-773FE0FB9E13}"/>
              </a:ext>
            </a:extLst>
          </p:cNvPr>
          <p:cNvSpPr>
            <a:spLocks noGrp="1"/>
          </p:cNvSpPr>
          <p:nvPr>
            <p:ph type="subTitle" idx="1"/>
          </p:nvPr>
        </p:nvSpPr>
        <p:spPr>
          <a:xfrm>
            <a:off x="1162050" y="4605338"/>
            <a:ext cx="9144000" cy="1655762"/>
          </a:xfrm>
        </p:spPr>
        <p:txBody>
          <a:bodyPr/>
          <a:lstStyle/>
          <a:p>
            <a:pPr algn="l"/>
            <a:r>
              <a:rPr lang="en-US" dirty="0"/>
              <a:t>By Anvar Adylov</a:t>
            </a:r>
          </a:p>
        </p:txBody>
      </p:sp>
    </p:spTree>
    <p:extLst>
      <p:ext uri="{BB962C8B-B14F-4D97-AF65-F5344CB8AC3E}">
        <p14:creationId xmlns:p14="http://schemas.microsoft.com/office/powerpoint/2010/main" val="1923459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5C8AF-7FED-4386-B907-3A60F202198B}"/>
              </a:ext>
            </a:extLst>
          </p:cNvPr>
          <p:cNvSpPr>
            <a:spLocks noGrp="1"/>
          </p:cNvSpPr>
          <p:nvPr>
            <p:ph type="title"/>
          </p:nvPr>
        </p:nvSpPr>
        <p:spPr/>
        <p:txBody>
          <a:bodyPr/>
          <a:lstStyle/>
          <a:p>
            <a:r>
              <a:rPr lang="en-US" dirty="0"/>
              <a:t>HDD major components</a:t>
            </a:r>
          </a:p>
        </p:txBody>
      </p:sp>
      <p:pic>
        <p:nvPicPr>
          <p:cNvPr id="3074" name="Picture 2">
            <a:extLst>
              <a:ext uri="{FF2B5EF4-FFF2-40B4-BE49-F238E27FC236}">
                <a16:creationId xmlns:a16="http://schemas.microsoft.com/office/drawing/2014/main" id="{34527D22-B551-40DE-9351-2E0C6E245FD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48278" y="1825625"/>
            <a:ext cx="6095444"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93628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AB45A142-4255-493C-8284-5D566C121B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21177"/>
            <a:ext cx="4332307" cy="6179552"/>
          </a:xfrm>
          <a:prstGeom prst="rect">
            <a:avLst/>
          </a:prstGeom>
          <a:solidFill>
            <a:srgbClr val="404040">
              <a:alpha val="89804"/>
            </a:srgbClr>
          </a:solidFill>
          <a:ln w="127000" cap="sq" cmpd="thinThick">
            <a:solidFill>
              <a:srgbClr val="595959">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ACFA4E-EBF7-404C-AB73-C82A5D84E3D3}"/>
              </a:ext>
            </a:extLst>
          </p:cNvPr>
          <p:cNvSpPr>
            <a:spLocks noGrp="1"/>
          </p:cNvSpPr>
          <p:nvPr>
            <p:ph type="title"/>
          </p:nvPr>
        </p:nvSpPr>
        <p:spPr>
          <a:xfrm>
            <a:off x="674237" y="914400"/>
            <a:ext cx="3657600" cy="2887579"/>
          </a:xfrm>
        </p:spPr>
        <p:txBody>
          <a:bodyPr vert="horz" lIns="91440" tIns="45720" rIns="91440" bIns="45720" rtlCol="0" anchor="b">
            <a:normAutofit/>
          </a:bodyPr>
          <a:lstStyle/>
          <a:p>
            <a:pPr algn="ctr"/>
            <a:r>
              <a:rPr lang="en-US" sz="4800" kern="1200">
                <a:solidFill>
                  <a:srgbClr val="FFFFFF"/>
                </a:solidFill>
                <a:latin typeface="+mj-lt"/>
                <a:ea typeface="+mj-ea"/>
                <a:cs typeface="+mj-cs"/>
              </a:rPr>
              <a:t>200MB HDD under microscope </a:t>
            </a:r>
          </a:p>
        </p:txBody>
      </p:sp>
      <p:cxnSp>
        <p:nvCxnSpPr>
          <p:cNvPr id="73" name="Straight Connector 72">
            <a:extLst>
              <a:ext uri="{FF2B5EF4-FFF2-40B4-BE49-F238E27FC236}">
                <a16:creationId xmlns:a16="http://schemas.microsoft.com/office/drawing/2014/main" id="{38FB9660-F42F-4313-BBC4-47C007FE48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1126" y="3910267"/>
            <a:ext cx="258679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2050" name="Picture 2">
            <a:extLst>
              <a:ext uri="{FF2B5EF4-FFF2-40B4-BE49-F238E27FC236}">
                <a16:creationId xmlns:a16="http://schemas.microsoft.com/office/drawing/2014/main" id="{60AC4127-7CEE-427D-A352-ED1501F83F2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153822" y="688674"/>
            <a:ext cx="6553545" cy="5488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50421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827D7-D142-4242-8245-90E993E7DD99}"/>
              </a:ext>
            </a:extLst>
          </p:cNvPr>
          <p:cNvSpPr>
            <a:spLocks noGrp="1"/>
          </p:cNvSpPr>
          <p:nvPr>
            <p:ph type="title"/>
          </p:nvPr>
        </p:nvSpPr>
        <p:spPr>
          <a:xfrm>
            <a:off x="838200" y="365125"/>
            <a:ext cx="10515600" cy="1325563"/>
          </a:xfrm>
        </p:spPr>
        <p:txBody>
          <a:bodyPr/>
          <a:lstStyle/>
          <a:p>
            <a:r>
              <a:rPr lang="en-US"/>
              <a:t>How data is read out of the HDD on platter</a:t>
            </a:r>
            <a:endParaRPr lang="en-US" dirty="0"/>
          </a:p>
        </p:txBody>
      </p:sp>
      <p:pic>
        <p:nvPicPr>
          <p:cNvPr id="1026" name="Picture 2">
            <a:extLst>
              <a:ext uri="{FF2B5EF4-FFF2-40B4-BE49-F238E27FC236}">
                <a16:creationId xmlns:a16="http://schemas.microsoft.com/office/drawing/2014/main" id="{5B78C987-9DCE-43C8-B3B8-FBAEA75AA50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30516" y="1825625"/>
            <a:ext cx="8130967"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7197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2AFED-F062-4564-A8F1-F2BEB6501D31}"/>
              </a:ext>
            </a:extLst>
          </p:cNvPr>
          <p:cNvSpPr>
            <a:spLocks noGrp="1"/>
          </p:cNvSpPr>
          <p:nvPr>
            <p:ph type="title"/>
          </p:nvPr>
        </p:nvSpPr>
        <p:spPr>
          <a:xfrm>
            <a:off x="965200" y="1012825"/>
            <a:ext cx="10515600" cy="1325563"/>
          </a:xfrm>
        </p:spPr>
        <p:txBody>
          <a:bodyPr>
            <a:normAutofit/>
          </a:bodyPr>
          <a:lstStyle/>
          <a:p>
            <a:r>
              <a:rPr lang="en-US" sz="6000" dirty="0"/>
              <a:t>Thank you for your attention</a:t>
            </a:r>
          </a:p>
        </p:txBody>
      </p:sp>
      <p:pic>
        <p:nvPicPr>
          <p:cNvPr id="4" name="Content Placeholder 3">
            <a:extLst>
              <a:ext uri="{FF2B5EF4-FFF2-40B4-BE49-F238E27FC236}">
                <a16:creationId xmlns:a16="http://schemas.microsoft.com/office/drawing/2014/main" id="{FB0775BE-EDC6-4E0C-ADC9-3149A97D0FE0}"/>
              </a:ext>
            </a:extLst>
          </p:cNvPr>
          <p:cNvPicPr>
            <a:picLocks noGrp="1" noChangeAspect="1"/>
          </p:cNvPicPr>
          <p:nvPr>
            <p:ph idx="1"/>
          </p:nvPr>
        </p:nvPicPr>
        <p:blipFill>
          <a:blip r:embed="rId2"/>
          <a:stretch>
            <a:fillRect/>
          </a:stretch>
        </p:blipFill>
        <p:spPr>
          <a:xfrm>
            <a:off x="4752975" y="2677319"/>
            <a:ext cx="2686050" cy="2647950"/>
          </a:xfrm>
          <a:prstGeom prst="rect">
            <a:avLst/>
          </a:prstGeom>
        </p:spPr>
      </p:pic>
    </p:spTree>
    <p:extLst>
      <p:ext uri="{BB962C8B-B14F-4D97-AF65-F5344CB8AC3E}">
        <p14:creationId xmlns:p14="http://schemas.microsoft.com/office/powerpoint/2010/main" val="38525079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6AEAA-18E7-401B-90A1-AE8457877CDB}"/>
              </a:ext>
            </a:extLst>
          </p:cNvPr>
          <p:cNvSpPr>
            <a:spLocks noGrp="1"/>
          </p:cNvSpPr>
          <p:nvPr>
            <p:ph type="title"/>
          </p:nvPr>
        </p:nvSpPr>
        <p:spPr/>
        <p:txBody>
          <a:bodyPr/>
          <a:lstStyle/>
          <a:p>
            <a:r>
              <a:rPr lang="en-US" dirty="0"/>
              <a:t>Reference list</a:t>
            </a:r>
          </a:p>
        </p:txBody>
      </p:sp>
      <p:sp>
        <p:nvSpPr>
          <p:cNvPr id="3" name="Content Placeholder 2">
            <a:extLst>
              <a:ext uri="{FF2B5EF4-FFF2-40B4-BE49-F238E27FC236}">
                <a16:creationId xmlns:a16="http://schemas.microsoft.com/office/drawing/2014/main" id="{71E1B346-9D8F-4778-AA13-CC15838326D7}"/>
              </a:ext>
            </a:extLst>
          </p:cNvPr>
          <p:cNvSpPr>
            <a:spLocks noGrp="1"/>
          </p:cNvSpPr>
          <p:nvPr>
            <p:ph idx="1"/>
          </p:nvPr>
        </p:nvSpPr>
        <p:spPr>
          <a:xfrm>
            <a:off x="838200" y="1349636"/>
            <a:ext cx="10515600" cy="4351338"/>
          </a:xfrm>
        </p:spPr>
        <p:txBody>
          <a:bodyPr>
            <a:normAutofit fontScale="25000" lnSpcReduction="20000"/>
          </a:bodyPr>
          <a:lstStyle/>
          <a:p>
            <a:r>
              <a:rPr lang="en-US" dirty="0"/>
              <a:t> Kean, David W., "IBM San Jose, A quarter century of innovation", 1977.</a:t>
            </a:r>
          </a:p>
          <a:p>
            <a:r>
              <a:rPr lang="en-US" dirty="0"/>
              <a:t> </a:t>
            </a:r>
            <a:r>
              <a:rPr lang="en-US" dirty="0" err="1"/>
              <a:t>Arpaci-Dusseau</a:t>
            </a:r>
            <a:r>
              <a:rPr lang="en-US" dirty="0"/>
              <a:t>, </a:t>
            </a:r>
            <a:r>
              <a:rPr lang="en-US" dirty="0" err="1"/>
              <a:t>Remzi</a:t>
            </a:r>
            <a:r>
              <a:rPr lang="en-US" dirty="0"/>
              <a:t> H.; </a:t>
            </a:r>
            <a:r>
              <a:rPr lang="en-US" dirty="0" err="1"/>
              <a:t>Arpaci-Dusseau</a:t>
            </a:r>
            <a:r>
              <a:rPr lang="en-US" dirty="0"/>
              <a:t>, Andrea C. (2014). "Operating Systems: Three Easy Pieces, Chapter: Hard Disk Drives" (PDF). </a:t>
            </a:r>
            <a:r>
              <a:rPr lang="en-US" dirty="0" err="1"/>
              <a:t>Arpaci-Dusseau</a:t>
            </a:r>
            <a:r>
              <a:rPr lang="en-US" dirty="0"/>
              <a:t> Books.</a:t>
            </a:r>
          </a:p>
          <a:p>
            <a:r>
              <a:rPr lang="en-US" dirty="0"/>
              <a:t> Patterson, David; Hennessy, John (1971). Computer Organization and Design: The Hardware/Software Interface. Elsevier. p. 23. ISBN 9780080502571.</a:t>
            </a:r>
          </a:p>
          <a:p>
            <a:r>
              <a:rPr lang="en-US" dirty="0"/>
              <a:t> Domingo, Joel. "SSD vs. HDD: What's the Difference?". PC Magazine UK. Retrieved March 21, 2018.</a:t>
            </a:r>
          </a:p>
          <a:p>
            <a:r>
              <a:rPr lang="en-US" dirty="0"/>
              <a:t> Mustafa, Naveed Ul; </a:t>
            </a:r>
            <a:r>
              <a:rPr lang="en-US" dirty="0" err="1"/>
              <a:t>Armejach</a:t>
            </a:r>
            <a:r>
              <a:rPr lang="en-US" dirty="0"/>
              <a:t>, Adria; Ozturk, </a:t>
            </a:r>
            <a:r>
              <a:rPr lang="en-US" dirty="0" err="1"/>
              <a:t>Ozcan</a:t>
            </a:r>
            <a:r>
              <a:rPr lang="en-US" dirty="0"/>
              <a:t>; Cristal, Adrian; </a:t>
            </a:r>
            <a:r>
              <a:rPr lang="en-US" dirty="0" err="1"/>
              <a:t>Unsal</a:t>
            </a:r>
            <a:r>
              <a:rPr lang="en-US" dirty="0"/>
              <a:t>, Osman S. (2016). "Implications of non-volatile memory as primary storage for database management systems". 2016 International Conference on Embedded Computer Systems: Architectures, Modeling and Simulation (SAMOS). IEEE. pp. 164–171. doi:10.1109/SAMOS.2016.7818344. hdl:11693/37609. ISBN 978-1-5090-3076-7.</a:t>
            </a:r>
          </a:p>
          <a:p>
            <a:r>
              <a:rPr lang="en-US" dirty="0"/>
              <a:t> "IBM Archives: IBM 350 disk storage unit". Retrieved October 19, 2012.</a:t>
            </a:r>
          </a:p>
          <a:p>
            <a:r>
              <a:rPr lang="en-US" dirty="0"/>
              <a:t> "Validating the Reliability of Intel Solid-State Drives" (PDF). Intel. July 2011. Retrieved February 10, 2012.</a:t>
            </a:r>
          </a:p>
          <a:p>
            <a:r>
              <a:rPr lang="en-US" dirty="0"/>
              <a:t> Fullerton, Eric (March 2018). "5th Non-Volatile Memories Workshop (NVMW 2018)" (PDF). IEEE. Retrieved April 23, 2018.</a:t>
            </a:r>
          </a:p>
          <a:p>
            <a:r>
              <a:rPr lang="en-US" dirty="0"/>
              <a:t> Handy, James (July 31, 2012). "For the Lack of a Fab..." Objective Analysis. Retrieved November 25, 2012.</a:t>
            </a:r>
          </a:p>
          <a:p>
            <a:r>
              <a:rPr lang="en-US" dirty="0"/>
              <a:t> Hutchinson, Lee. (June 25, 2012) How SSDs conquered mobile devices and modern OSes. Ars </a:t>
            </a:r>
            <a:r>
              <a:rPr lang="en-US" dirty="0" err="1"/>
              <a:t>Technica</a:t>
            </a:r>
            <a:r>
              <a:rPr lang="en-US" dirty="0"/>
              <a:t>. Retrieved January 7, 2013.</a:t>
            </a:r>
          </a:p>
          <a:p>
            <a:r>
              <a:rPr lang="en-US" dirty="0"/>
              <a:t> Santo Domingo, Joel (May 10, 2012). "SSD vs HDD: What's the Difference?". PC Magazine. Retrieved November 24, 2012.</a:t>
            </a:r>
          </a:p>
          <a:p>
            <a:r>
              <a:rPr lang="en-US" dirty="0"/>
              <a:t> Hough, Jack (May 14, 2018). "Why Western Digital Can Gain 45% Despite Declining HDD Business". Barron’s. Retrieved May 15, 2018.</a:t>
            </a:r>
          </a:p>
          <a:p>
            <a:r>
              <a:rPr lang="en-US" dirty="0"/>
              <a:t> "Time Capsule, 1956 Hard Disk". Oracle Magazine. Oracle. July 2014. Retrieved September 19, 2014. IBM 350 disk drive held 3.75 MB</a:t>
            </a:r>
          </a:p>
          <a:p>
            <a:r>
              <a:rPr lang="en-US" dirty="0"/>
              <a:t> "</a:t>
            </a:r>
            <a:r>
              <a:rPr lang="en-US" dirty="0" err="1"/>
              <a:t>Ultrastar</a:t>
            </a:r>
            <a:r>
              <a:rPr lang="en-US" dirty="0"/>
              <a:t> Hs14". HGST. Retrieved October 7, 2017.</a:t>
            </a:r>
          </a:p>
          <a:p>
            <a:r>
              <a:rPr lang="en-US" dirty="0"/>
              <a:t> 15,000,000,000,000 divided by 3,750,000.</a:t>
            </a:r>
          </a:p>
          <a:p>
            <a:r>
              <a:rPr lang="en-US" dirty="0"/>
              <a:t> "Toshiba Storage Solutions – MK3233GSG".</a:t>
            </a:r>
          </a:p>
          <a:p>
            <a:r>
              <a:rPr lang="en-US" dirty="0"/>
              <a:t> 68 x 12 x 12 x 12 divided by 2.1 .</a:t>
            </a:r>
          </a:p>
          <a:p>
            <a:r>
              <a:rPr lang="en-US" dirty="0"/>
              <a:t> 910,000 divided by 62.</a:t>
            </a:r>
          </a:p>
          <a:p>
            <a:r>
              <a:rPr lang="en-US" dirty="0"/>
              <a:t> 600 divided by 2.5 .</a:t>
            </a:r>
          </a:p>
          <a:p>
            <a:r>
              <a:rPr lang="en-US" dirty="0"/>
              <a:t> Ballistic Research Laboratories "A THIRD SURVEY OF DOMESTIC ELECTRONIC DIGITAL COMPUTING SYSTEMS," March 1961, section on IBM 305 RAMAC (p. 314-331) states a $34,500 purchase price which calculates to $9,200/MB.</a:t>
            </a:r>
          </a:p>
          <a:p>
            <a:r>
              <a:rPr lang="en-US" dirty="0"/>
              <a:t> John C. McCallum (May 16, 2015). "Disk Drive Prices (1955–2015)". jcmit.com. Archived from the original on July 14, 2015. Retrieved July 25, 2015.</a:t>
            </a:r>
          </a:p>
          <a:p>
            <a:r>
              <a:rPr lang="en-US" dirty="0"/>
              <a:t> 9,200,000 divided by 0.032 .</a:t>
            </a:r>
          </a:p>
          <a:p>
            <a:r>
              <a:rPr lang="en-US" dirty="0"/>
              <a:t> "Magnetic head development". IBM Archives. Retrieved August 11, 2014.</a:t>
            </a:r>
          </a:p>
          <a:p>
            <a:r>
              <a:rPr lang="en-US" dirty="0"/>
              <a:t> </a:t>
            </a:r>
            <a:r>
              <a:rPr lang="en-US" dirty="0" err="1"/>
              <a:t>Shilov</a:t>
            </a:r>
            <a:r>
              <a:rPr lang="en-US" dirty="0"/>
              <a:t>, Anton (March 19, 2018). "Unlimited 5 Year Endurance: The 100TB SSD from Nimbus Data". </a:t>
            </a:r>
            <a:r>
              <a:rPr lang="en-US" dirty="0" err="1"/>
              <a:t>AnandTech</a:t>
            </a:r>
            <a:r>
              <a:rPr lang="en-US" dirty="0"/>
              <a:t>. Retrieved December 24, 2018.</a:t>
            </a:r>
          </a:p>
          <a:p>
            <a:r>
              <a:rPr lang="en-US" dirty="0"/>
              <a:t> 1,300,000,000,000 divided by 2,000.</a:t>
            </a:r>
          </a:p>
          <a:p>
            <a:r>
              <a:rPr lang="en-US" dirty="0"/>
              <a:t> "</a:t>
            </a:r>
            <a:r>
              <a:rPr lang="en-US" dirty="0" err="1"/>
              <a:t>Ultrastar</a:t>
            </a:r>
            <a:r>
              <a:rPr lang="en-US" dirty="0"/>
              <a:t> DC HC500 Series HDD". Hgst.com. Retrieved February 20, 2019.</a:t>
            </a:r>
          </a:p>
          <a:p>
            <a:r>
              <a:rPr lang="en-US" dirty="0"/>
              <a:t> 2,500,000 divided by 2,000.</a:t>
            </a:r>
          </a:p>
          <a:p>
            <a:r>
              <a:rPr lang="en-US" dirty="0"/>
              <a:t> "IBM Archives: IBM 350 disk storage unit". IBM. January 23, 2003. Retrieved July 26, 2015.</a:t>
            </a:r>
          </a:p>
          <a:p>
            <a:r>
              <a:rPr lang="en-US" dirty="0"/>
              <a:t> "IBM Archives: IBM 1301 disk storage unit". ibm.com. January 23, 2003.</a:t>
            </a:r>
          </a:p>
          <a:p>
            <a:r>
              <a:rPr lang="en-US" dirty="0"/>
              <a:t> "DiskPlatter-1301". computermuseum.li. Archived from the original on March 28, 2015.</a:t>
            </a:r>
          </a:p>
          <a:p>
            <a:r>
              <a:rPr lang="en-US" dirty="0"/>
              <a:t> Microsoft Windows NT Workstation 4.0 Resource Guide 1995, Chapter 17 – Disk and File System Basics</a:t>
            </a:r>
          </a:p>
          <a:p>
            <a:r>
              <a:rPr lang="en-US" dirty="0"/>
              <a:t> P. PAL Chaudhuri, P. Pal (April 15, 2008). Computer Organization and Design (3rd Edition). PHI Learning Pvt. Ltd. p. 568. ISBN 978-81-203-3511-0.</a:t>
            </a:r>
          </a:p>
          <a:p>
            <a:r>
              <a:rPr lang="en-US" dirty="0"/>
              <a:t> Mott, Nathaniel (November 7, 2018). "Seagate Wants to Ship 100TB HDDs by 2025". Tomshardware.com. Retrieved February 20, 2019.</a:t>
            </a:r>
          </a:p>
          <a:p>
            <a:r>
              <a:rPr lang="en-US" dirty="0"/>
              <a:t> </a:t>
            </a:r>
            <a:r>
              <a:rPr lang="en-US" dirty="0" err="1"/>
              <a:t>Kanellos</a:t>
            </a:r>
            <a:r>
              <a:rPr lang="en-US" dirty="0"/>
              <a:t>, Michael (January 17, 2006). "Flash goes the notebook". CNET. Retrieved May 15, 2018.</a:t>
            </a:r>
          </a:p>
          <a:p>
            <a:r>
              <a:rPr lang="en-US" dirty="0"/>
              <a:t> "Industry Life Cycle - Encyclopedia - Business Terms | Inc.com". Inc Magazine. Retrieved May 15, 2018.</a:t>
            </a:r>
          </a:p>
          <a:p>
            <a:r>
              <a:rPr lang="en-US" dirty="0"/>
              <a:t> "Farming hard drives: how </a:t>
            </a:r>
            <a:r>
              <a:rPr lang="en-US" dirty="0" err="1"/>
              <a:t>Backblaze</a:t>
            </a:r>
            <a:r>
              <a:rPr lang="en-US" dirty="0"/>
              <a:t> weathered the Thailand drive crisis". blaze.com. 2013. Retrieved May 23, 2014.</a:t>
            </a:r>
          </a:p>
          <a:p>
            <a:r>
              <a:rPr lang="en-US" dirty="0"/>
              <a:t> New Paradigms in Magnetic Recording</a:t>
            </a:r>
          </a:p>
          <a:p>
            <a:r>
              <a:rPr lang="en-US" dirty="0"/>
              <a:t> "Hard Drives". escotal.com. Retrieved July 16, 2011.</a:t>
            </a:r>
          </a:p>
          <a:p>
            <a:r>
              <a:rPr lang="en-US" dirty="0"/>
              <a:t> "What is a "head-crash" &amp; how can it result in permanent loss of my hard drive data?". data-master.com. Retrieved July 16, 2011.</a:t>
            </a:r>
          </a:p>
          <a:p>
            <a:r>
              <a:rPr lang="en-US" dirty="0"/>
              <a:t> "Hard Drive Help". hardrivehelp.com. Archived from the original on September 3, 2011. Retrieved July 16, 2011.</a:t>
            </a:r>
          </a:p>
          <a:p>
            <a:r>
              <a:rPr lang="en-US" dirty="0"/>
              <a:t> </a:t>
            </a:r>
            <a:r>
              <a:rPr lang="en-US" dirty="0" err="1"/>
              <a:t>Elert</a:t>
            </a:r>
            <a:r>
              <a:rPr lang="en-US" dirty="0"/>
              <a:t>, Glenn. "Thickness of a Piece of Paper". hypertextbook.com. Archived from the original on June 8, 2017. Retrieved July 9, 2011.</a:t>
            </a:r>
          </a:p>
          <a:p>
            <a:r>
              <a:rPr lang="en-US" dirty="0"/>
              <a:t> CMOS-MagView is an instrument that visualizes magnetic field structures and strengths.</a:t>
            </a:r>
          </a:p>
          <a:p>
            <a:r>
              <a:rPr lang="en-US" dirty="0"/>
              <a:t> Blount, Walker C. (November 2007). "Why 7,200 RPM Mobile Hard Disk Drives?" (PDF). Archived from the original (PDF) on April 19, 2012. Retrieved July 17, 2011.</a:t>
            </a:r>
          </a:p>
          <a:p>
            <a:r>
              <a:rPr lang="en-US" dirty="0"/>
              <a:t> </a:t>
            </a:r>
            <a:r>
              <a:rPr lang="en-US" dirty="0" err="1"/>
              <a:t>Kozierok</a:t>
            </a:r>
            <a:r>
              <a:rPr lang="en-US" dirty="0"/>
              <a:t>, Charles (October 20, 2018). "Hard Drive Spindle Speed". The PC Guide. Retrieved May 26, 2019.</a:t>
            </a:r>
          </a:p>
          <a:p>
            <a:r>
              <a:rPr lang="en-US" dirty="0"/>
              <a:t> "Choosing High Performance Storage is not about RPM any more". Seagate. Retrieved July 25, 2015.</a:t>
            </a:r>
          </a:p>
          <a:p>
            <a:r>
              <a:rPr lang="en-US" dirty="0"/>
              <a:t> Hayes, Brian. "Terabyte Territory". American Scientist. p. 212.</a:t>
            </a:r>
          </a:p>
          <a:p>
            <a:r>
              <a:rPr lang="en-US" dirty="0"/>
              <a:t> "Press Releases December 14, 2004". Toshiba. Retrieved March 13, 2009.</a:t>
            </a:r>
          </a:p>
          <a:p>
            <a:r>
              <a:rPr lang="en-US" dirty="0"/>
              <a:t> "Seagate </a:t>
            </a:r>
            <a:r>
              <a:rPr lang="en-US" dirty="0" err="1"/>
              <a:t>Momentus</a:t>
            </a:r>
            <a:r>
              <a:rPr lang="en-US" dirty="0"/>
              <a:t> 2½" HDDs per webpage January 2008". Seagate.com. October 24, 2008. Retrieved March 13, 2009.</a:t>
            </a:r>
          </a:p>
          <a:p>
            <a:r>
              <a:rPr lang="en-US" dirty="0"/>
              <a:t> "Seagate Barracuda 3½" HDDs per webpage January 2008". Seagate.com. Retrieved March 13, 2009.</a:t>
            </a:r>
          </a:p>
          <a:p>
            <a:r>
              <a:rPr lang="en-US" dirty="0"/>
              <a:t> "Western Digital Scorpio 2½" and Greenpower 3½" HDDs per quarterly conference, July 2007". Wdc.com. Archived from the original on March 16, 2009. Retrieved March 13, 2009.</a:t>
            </a:r>
          </a:p>
          <a:p>
            <a:r>
              <a:rPr lang="en-US" dirty="0"/>
              <a:t> D. </a:t>
            </a:r>
            <a:r>
              <a:rPr lang="en-US" dirty="0" err="1"/>
              <a:t>Suess</a:t>
            </a:r>
            <a:r>
              <a:rPr lang="en-US" dirty="0"/>
              <a:t>; et al. (2004). "Exchange spring recording media for areal densities up to 10Tbit/in2". J. </a:t>
            </a:r>
            <a:r>
              <a:rPr lang="en-US" dirty="0" err="1"/>
              <a:t>Magn</a:t>
            </a:r>
            <a:r>
              <a:rPr lang="en-US" dirty="0"/>
              <a:t>. Mag. Mat.</a:t>
            </a:r>
          </a:p>
          <a:p>
            <a:r>
              <a:rPr lang="en-US" dirty="0"/>
              <a:t> R. </a:t>
            </a:r>
            <a:r>
              <a:rPr lang="en-US" dirty="0" err="1"/>
              <a:t>Victora</a:t>
            </a:r>
            <a:r>
              <a:rPr lang="en-US" dirty="0"/>
              <a:t>; et al. (2005). "Composite media for perpendicular magnetic recording". IEEE Trans. Mag. Mat.</a:t>
            </a:r>
          </a:p>
          <a:p>
            <a:r>
              <a:rPr lang="en-US" dirty="0"/>
              <a:t> </a:t>
            </a:r>
            <a:r>
              <a:rPr lang="en-US" dirty="0" err="1"/>
              <a:t>Kozierok</a:t>
            </a:r>
            <a:r>
              <a:rPr lang="en-US" dirty="0"/>
              <a:t>, Charles (November 25, 2018). "Hard Drive Error Correcting Code (ECC)". The PC Guide. Retrieved May 26, 2019.</a:t>
            </a:r>
          </a:p>
          <a:p>
            <a:r>
              <a:rPr lang="en-US" dirty="0"/>
              <a:t> Curtis E. Stevens (2011). "Advanced Format in Legacy Infrastructures: More Transparent than Disruptive" (PDF). idema.org. Retrieved November 5, 2013.</a:t>
            </a:r>
          </a:p>
          <a:p>
            <a:r>
              <a:rPr lang="en-US" dirty="0"/>
              <a:t> "Iterative Detection Read Channel Technology in Hard Disk Drives", Hitachi</a:t>
            </a:r>
          </a:p>
          <a:p>
            <a:r>
              <a:rPr lang="en-US" dirty="0"/>
              <a:t> "2.5-inch Hard Disk Drive with High Recording Density and High Shock Resistance, Toshiba, 2011</a:t>
            </a:r>
          </a:p>
          <a:p>
            <a:r>
              <a:rPr lang="en-US" dirty="0"/>
              <a:t> </a:t>
            </a:r>
            <a:r>
              <a:rPr lang="en-US" dirty="0" err="1"/>
              <a:t>MjM</a:t>
            </a:r>
            <a:r>
              <a:rPr lang="en-US" dirty="0"/>
              <a:t> Data Recovery Ltd. "MJM Data Recovery Ltd: Hard Disk Bad Sector Mapping Techniques". Datarecovery.mjm.co.uk. Archived from the original on February 1, 2014. Retrieved January 21, 2014.</a:t>
            </a:r>
          </a:p>
          <a:p>
            <a:r>
              <a:rPr lang="en-US" dirty="0"/>
              <a:t> </a:t>
            </a:r>
            <a:r>
              <a:rPr lang="en-US" dirty="0" err="1"/>
              <a:t>Kozierok</a:t>
            </a:r>
            <a:r>
              <a:rPr lang="en-US" dirty="0"/>
              <a:t>, Charles. "Hard Drive Sector Format and Structure". The PC Guide. Retrieved May 26, 2019.</a:t>
            </a:r>
          </a:p>
          <a:p>
            <a:r>
              <a:rPr lang="en-US" dirty="0"/>
              <a:t> "Enterprise Performance 15K HDD: Data Sheet" (PDF). Seagate. 2013. Retrieved October 24, 2013.</a:t>
            </a:r>
          </a:p>
          <a:p>
            <a:r>
              <a:rPr lang="en-US" dirty="0"/>
              <a:t> "WD </a:t>
            </a:r>
            <a:r>
              <a:rPr lang="en-US" dirty="0" err="1"/>
              <a:t>Xe</a:t>
            </a:r>
            <a:r>
              <a:rPr lang="en-US" dirty="0"/>
              <a:t>: Datacenter hard drives" (PDF). Western Digital. 2013. Retrieved October 24, 2013.</a:t>
            </a:r>
          </a:p>
          <a:p>
            <a:r>
              <a:rPr lang="en-US" dirty="0"/>
              <a:t> "3.5" </a:t>
            </a:r>
            <a:r>
              <a:rPr lang="en-US" dirty="0" err="1"/>
              <a:t>BarraCuda</a:t>
            </a:r>
            <a:r>
              <a:rPr lang="en-US" dirty="0"/>
              <a:t> data sheet" (PDF). Seagate. June 2018. Retrieved July 28, 2018.</a:t>
            </a:r>
          </a:p>
          <a:p>
            <a:r>
              <a:rPr lang="en-US" dirty="0"/>
              <a:t> "WD Red Desktop/Mobile Series Spec Sheet" (PDF). Western Digital. April 2018. Retrieved July 28, 2018.</a:t>
            </a:r>
          </a:p>
          <a:p>
            <a:r>
              <a:rPr lang="en-US" dirty="0"/>
              <a:t> David S. H. Rosenthal (October 1, 2010). "Keeping Bits Safe: How Hard Can It Be?". ACM Queue. Retrieved January 2, 2014.</a:t>
            </a:r>
          </a:p>
          <a:p>
            <a:r>
              <a:rPr lang="en-US" dirty="0"/>
              <a:t> Byrne, David (July 1, 2015). "Prices for Data Storage Equipment and the State of IT Innovation". The Federal Reserve Board FEDS Notes. p. Table 2. Retrieved July 5, 2015.</a:t>
            </a:r>
          </a:p>
          <a:p>
            <a:r>
              <a:rPr lang="en-US" dirty="0"/>
              <a:t> "Gallium Arsenide". PC Magazine. March 25, 1997. Retrieved August 16, 2014. Gordon Moore: ... the ability of the magnetic disk people to continue to increase the density is flabbergasting--that has moved at least as fast as the semiconductor complexity.</a:t>
            </a:r>
          </a:p>
          <a:p>
            <a:r>
              <a:rPr lang="en-US" dirty="0"/>
              <a:t> </a:t>
            </a:r>
            <a:r>
              <a:rPr lang="en-US" dirty="0" err="1"/>
              <a:t>Dubash</a:t>
            </a:r>
            <a:r>
              <a:rPr lang="en-US" dirty="0"/>
              <a:t>, </a:t>
            </a:r>
            <a:r>
              <a:rPr lang="en-US" dirty="0" err="1"/>
              <a:t>Manek</a:t>
            </a:r>
            <a:r>
              <a:rPr lang="en-US" dirty="0"/>
              <a:t> (April 13, 2010). "Moore's Law is dead, says Gordon Moore". techworld.com. Archived from the original on July 6, 2014. Retrieved August 17, 2014. It can't continue forever. The nature of exponentials is that you push them out and eventually disaster happens.</a:t>
            </a:r>
          </a:p>
          <a:p>
            <a:r>
              <a:rPr lang="en-US" dirty="0"/>
              <a:t> John C. McCallum (2017). "Disk Drive Prices (1955–2017)". Retrieved July 15, 2017.</a:t>
            </a:r>
          </a:p>
          <a:p>
            <a:r>
              <a:rPr lang="en-US" dirty="0"/>
              <a:t> Gary M. </a:t>
            </a:r>
            <a:r>
              <a:rPr lang="en-US" dirty="0" err="1"/>
              <a:t>Decad</a:t>
            </a:r>
            <a:r>
              <a:rPr lang="en-US" dirty="0"/>
              <a:t>; Robert E. Fontana Jr. (July 6, 2017). "A Look at Cloud Storage Component Technologies Trends and Future Projections". ibmsystemsmag.com. p. Table 1. Retrieved July 21, 2014.</a:t>
            </a:r>
          </a:p>
          <a:p>
            <a:r>
              <a:rPr lang="en-US" dirty="0"/>
              <a:t> Mellor, Chris (November 10, 2014). "</a:t>
            </a:r>
            <a:r>
              <a:rPr lang="en-US" dirty="0" err="1"/>
              <a:t>Kryder's</a:t>
            </a:r>
            <a:r>
              <a:rPr lang="en-US" dirty="0"/>
              <a:t> law craps out: Race to UBER-CHEAP STORAGE is OVER". theregister.co.uk. UK: The Register. Retrieved November 12, 2014. The 2011 Thai floods almost doubled disk capacity cost/GB for a while. Rosenthal writes: 'The technical difficulties of migrating from PMR to HAMR, meant that already in 2010 the </a:t>
            </a:r>
            <a:r>
              <a:rPr lang="en-US" dirty="0" err="1"/>
              <a:t>Kryder</a:t>
            </a:r>
            <a:r>
              <a:rPr lang="en-US" dirty="0"/>
              <a:t> rate had slowed significantly and was not expected to return to its trend in the near future. The floods reinforced this.'</a:t>
            </a:r>
          </a:p>
          <a:p>
            <a:r>
              <a:rPr lang="en-US" dirty="0"/>
              <a:t> Dave Anderson (2013). "HDD Opportunities &amp; Challenges, Now to 2020" (PDF). Seagate. Retrieved May 23, 2014. 'PMR CAGR slowing from historical 40+% down to ~8-12%' and 'HAMR CAGR = 20-40% for 2015–2020'</a:t>
            </a:r>
          </a:p>
          <a:p>
            <a:r>
              <a:rPr lang="en-US" dirty="0"/>
              <a:t> Plumer, Martin L.; et al. (March 2011). "New Paradigms in Magnetic Recording". Physics in Canada. 67 (1): 25–29. arXiv:1201.5543. Bibcode:2012arXiv1201.5543P.</a:t>
            </a:r>
          </a:p>
          <a:p>
            <a:r>
              <a:rPr lang="en-US" dirty="0"/>
              <a:t> "Seagate Delivers On Technology Milestone: First to Ship Hard Drives Using Next-Generation Shingled Magnetic Recording" (Press release). New York: Seagate Technology plc. seagate.com. September 9, 2013. Archived from the original on October 9, 2014. Retrieved July 5, 2014. Shingled Magnetic Technology is the First Step to Reaching a 20 Terabyte Hard Drive by 2020</a:t>
            </a:r>
          </a:p>
          <a:p>
            <a:r>
              <a:rPr lang="en-US" dirty="0"/>
              <a:t> Jake Edge (March 26, 2014). "Support for shingled magnetic recording devices". LWN.net. Retrieved January 7, 2015.</a:t>
            </a:r>
          </a:p>
          <a:p>
            <a:r>
              <a:rPr lang="en-US" dirty="0"/>
              <a:t> Jonathan Corbet (April 23, 2013). "LSFMM: A storage technology update". LWN.net. Retrieved January 7, 2015. A 'shingled magnetic recording' (SMR) drive is a rotating drive that packs its tracks so closely that one track cannot be overwritten without destroying the neighboring tracks as well. The result is that overwriting data requires rewriting the entire set of closely-spaced tracks; that is an expensive tradeoff, but the benefit‍—‌much higher storage density‍—‌is deemed to be worth the cost in some situations.</a:t>
            </a:r>
          </a:p>
          <a:p>
            <a:r>
              <a:rPr lang="en-US" dirty="0"/>
              <a:t> "State of the Union: Seagate's HAMR Hard Drives, Dual-Actuator Mach2, and 24 TB HDDs on Track". Anandtech.com. Retrieved February 20, 2019.</a:t>
            </a:r>
          </a:p>
          <a:p>
            <a:r>
              <a:rPr lang="en-US" dirty="0"/>
              <a:t> "Will Toshiba's Bit-Patterned Drives Change the HDD Landscape?". PC Magazine. August 19, 2010. Retrieved August 21, 2010.</a:t>
            </a:r>
          </a:p>
          <a:p>
            <a:r>
              <a:rPr lang="en-US" dirty="0"/>
              <a:t> </a:t>
            </a:r>
            <a:r>
              <a:rPr lang="en-US" dirty="0" err="1"/>
              <a:t>Mallary</a:t>
            </a:r>
            <a:r>
              <a:rPr lang="en-US" dirty="0"/>
              <a:t>, Mike; et al. (July 2014). "Head and Media Challenges for 3 Tb/in2 Microwave-Assisted Magnetic Recording". IEEE </a:t>
            </a:r>
            <a:r>
              <a:rPr lang="en-US" dirty="0" err="1"/>
              <a:t>TransMag</a:t>
            </a:r>
            <a:r>
              <a:rPr lang="en-US" dirty="0"/>
              <a:t>. IEEE. 50 (7): 3001008.</a:t>
            </a:r>
          </a:p>
          <a:p>
            <a:r>
              <a:rPr lang="en-US" dirty="0"/>
              <a:t> Li, </a:t>
            </a:r>
            <a:r>
              <a:rPr lang="en-US" dirty="0" err="1"/>
              <a:t>Shaojing</a:t>
            </a:r>
            <a:r>
              <a:rPr lang="en-US" dirty="0"/>
              <a:t>; </a:t>
            </a:r>
            <a:r>
              <a:rPr lang="en-US" dirty="0" err="1"/>
              <a:t>Livshitz</a:t>
            </a:r>
            <a:r>
              <a:rPr lang="en-US" dirty="0"/>
              <a:t>, Boris; Bertram, H. Neal; </a:t>
            </a:r>
            <a:r>
              <a:rPr lang="en-US" dirty="0" err="1"/>
              <a:t>Schabes</a:t>
            </a:r>
            <a:r>
              <a:rPr lang="en-US" dirty="0"/>
              <a:t>, Manfred; </a:t>
            </a:r>
            <a:r>
              <a:rPr lang="en-US" dirty="0" err="1"/>
              <a:t>Schrefl</a:t>
            </a:r>
            <a:r>
              <a:rPr lang="en-US" dirty="0"/>
              <a:t>, Thomas; Fullerton, Eric E.; </a:t>
            </a:r>
            <a:r>
              <a:rPr lang="en-US" dirty="0" err="1"/>
              <a:t>Lomakin</a:t>
            </a:r>
            <a:r>
              <a:rPr lang="en-US" dirty="0"/>
              <a:t>, </a:t>
            </a:r>
            <a:r>
              <a:rPr lang="en-US" dirty="0" err="1"/>
              <a:t>Vitaliy</a:t>
            </a:r>
            <a:r>
              <a:rPr lang="en-US" dirty="0"/>
              <a:t> (2009). "Microwave assisted magnetization reversal in composite media" (PDF). Applied Physics Letters. 94 (20): 202509. Bibcode:2009ApPhL..94t2509L. doi:10.1063/1.3133354.</a:t>
            </a:r>
          </a:p>
          <a:p>
            <a:r>
              <a:rPr lang="en-US" dirty="0"/>
              <a:t> Wood, Roger (October 19, 2010). "Shingled Magnetic Recording and Two-Dimensional Magnetic Recording" (PDF). ewh.ieee.org. Hitachi GST. Retrieved August 4, 2014.</a:t>
            </a:r>
          </a:p>
          <a:p>
            <a:r>
              <a:rPr lang="en-US" dirty="0"/>
              <a:t> Coughlin, Thomas; </a:t>
            </a:r>
            <a:r>
              <a:rPr lang="en-US" dirty="0" err="1"/>
              <a:t>Grochowski</a:t>
            </a:r>
            <a:r>
              <a:rPr lang="en-US" dirty="0"/>
              <a:t>, Edward (June 19, 2012). "Years of Destiny: HDD Capital Spending and Technology Developments from 2012–2016" (PDF). IEEE Santa Clara Valley Magnetics Society. Retrieved October 9, 2012.</a:t>
            </a:r>
          </a:p>
          <a:p>
            <a:r>
              <a:rPr lang="en-US" dirty="0"/>
              <a:t> All-Heusler giant-magnetoresistance junctions with matched energy bands and Fermi surfaces</a:t>
            </a:r>
          </a:p>
          <a:p>
            <a:r>
              <a:rPr lang="en-US" dirty="0"/>
              <a:t> "Perpendicular Magnetic Recording Explained - Animation".</a:t>
            </a:r>
          </a:p>
          <a:p>
            <a:r>
              <a:rPr lang="en-US" dirty="0"/>
              <a:t> Mark Re (August 25, 2015). "Tech Talk on HDD Areal Density" (PDF). Seagate. Retrieved January 2, 2016. 15–30% CAGR (est.) 2015 through early 2020s; HAMR, TDMR, BPM</a:t>
            </a:r>
          </a:p>
          <a:p>
            <a:r>
              <a:rPr lang="en-US" dirty="0"/>
              <a:t> Raymond, Robert M. (September 9, 2013). "Current and Emerging Storage Technologies iCAS2013" (PDF). In Mahoney III, William P (ed.). Storage Technologies Areal Density Trends. International Computing for the Atmospheric Sciences Symposium (iCAS2013). Annecy, France: ORACLE Corp. at National Center for Atmospheric Research under sponsorship from the U.S. National Science Foundation. page 11: Areal Density (</a:t>
            </a:r>
            <a:r>
              <a:rPr lang="en-US" dirty="0" err="1"/>
              <a:t>Gbits</a:t>
            </a:r>
            <a:r>
              <a:rPr lang="en-US" dirty="0"/>
              <a:t>/in^2) HDD Products 2010–2022 10-20%/year?</a:t>
            </a:r>
          </a:p>
          <a:p>
            <a:r>
              <a:rPr lang="en-US" dirty="0"/>
              <a:t> Fontana, R.; </a:t>
            </a:r>
            <a:r>
              <a:rPr lang="en-US" dirty="0" err="1"/>
              <a:t>Decad</a:t>
            </a:r>
            <a:r>
              <a:rPr lang="en-US" dirty="0"/>
              <a:t>, G.; </a:t>
            </a:r>
            <a:r>
              <a:rPr lang="en-US" dirty="0" err="1"/>
              <a:t>Hetzler</a:t>
            </a:r>
            <a:r>
              <a:rPr lang="en-US" dirty="0"/>
              <a:t>, S. (September 20, 2012). "Technology Roadmap Comparisons for TAPE, HDD, and NAND Flash: Implications for Data Storage Applications" (PDF). digitalpreservation.gov. Washington D.C.: The Library of Congress. p. 18. Retrieved July 5, 2014. Annual Areal Density Growth Rate Scenarios: HDD 20%/</a:t>
            </a:r>
            <a:r>
              <a:rPr lang="en-US" dirty="0" err="1"/>
              <a:t>yr</a:t>
            </a:r>
            <a:r>
              <a:rPr lang="en-US" dirty="0"/>
              <a:t> 2012–2017</a:t>
            </a:r>
          </a:p>
          <a:p>
            <a:r>
              <a:rPr lang="en-US" dirty="0"/>
              <a:t> Kaur, Simran (September 15, 2014). "Seagate treads safely in uncertain demand environment; narrow moat has negative trend". Morningstar. Retrieved September 26, 2014. a slowing areal density curve … that slowed around 2010 and will advance areal density 25% annually till 2020.</a:t>
            </a:r>
          </a:p>
          <a:p>
            <a:r>
              <a:rPr lang="en-US" dirty="0"/>
              <a:t> Christoph Vogler; </a:t>
            </a:r>
            <a:r>
              <a:rPr lang="en-US" dirty="0" err="1"/>
              <a:t>Claas</a:t>
            </a:r>
            <a:r>
              <a:rPr lang="en-US" dirty="0"/>
              <a:t> </a:t>
            </a:r>
            <a:r>
              <a:rPr lang="en-US" dirty="0" err="1"/>
              <a:t>Abert</a:t>
            </a:r>
            <a:r>
              <a:rPr lang="en-US" dirty="0"/>
              <a:t>; Florian Bruckner; Dieter </a:t>
            </a:r>
            <a:r>
              <a:rPr lang="en-US" dirty="0" err="1"/>
              <a:t>Suess</a:t>
            </a:r>
            <a:r>
              <a:rPr lang="en-US" dirty="0"/>
              <a:t>; Dirk </a:t>
            </a:r>
            <a:r>
              <a:rPr lang="en-US" dirty="0" err="1"/>
              <a:t>Praetorius</a:t>
            </a:r>
            <a:r>
              <a:rPr lang="en-US" dirty="0"/>
              <a:t> (December 14, 2015). "Areal density optimizations for heat-assisted-magnetic recording of high density bit-patterned media". Journal of Applied Physics. 119 (22): 223903. arXiv:1512.03690. doi:10.1063/1.4953390.</a:t>
            </a:r>
          </a:p>
          <a:p>
            <a:r>
              <a:rPr lang="en-US" dirty="0"/>
              <a:t> HAMR: the Next Leap Forward is Now</a:t>
            </a:r>
          </a:p>
          <a:p>
            <a:r>
              <a:rPr lang="en-US" dirty="0"/>
              <a:t> Anton </a:t>
            </a:r>
            <a:r>
              <a:rPr lang="en-US" dirty="0" err="1"/>
              <a:t>Shilov</a:t>
            </a:r>
            <a:r>
              <a:rPr lang="en-US" dirty="0"/>
              <a:t> (December 18, 2015). "Hard Disk Drives with HAMR Technology Set to Arrive in 2018". Retrieved January 2, 2016. Unfortunately, mass production of actual hard drives featuring HAMR has been delayed for a number of times already and now it turns out that the first HAMR-based HDDs are due in 2018. ... HAMR HDDs will feature a new architecture, require new media, completely redesigned read/write heads with a laser as well as a special near-field optical transducer (NFT) and a number of other components not used or mass produced today.</a:t>
            </a:r>
          </a:p>
          <a:p>
            <a:r>
              <a:rPr lang="en-US" dirty="0"/>
              <a:t> Information technology – Serial Attached SCSI – 2 (SAS-2), INCITS 457 Draft 2, May 8, 2009, chapter 4.1 Direct-access block device type model overview, The LBAs on a logical unit shall begin with zero and shall be contiguous up to the last logical block on the logical unit.</a:t>
            </a:r>
          </a:p>
          <a:p>
            <a:r>
              <a:rPr lang="en-US" dirty="0"/>
              <a:t> ISO/IEC 791D:1994, AT Attachment Interface for Disk Drives (ATA-1), section 7.1.2</a:t>
            </a:r>
          </a:p>
          <a:p>
            <a:r>
              <a:rPr lang="en-US" dirty="0"/>
              <a:t> "LBA Count for Disk Drives Standard (Document LBA1-03)" (PDF). IDEMA. June 15, 2009. Retrieved February 14, 2016.</a:t>
            </a:r>
          </a:p>
          <a:p>
            <a:r>
              <a:rPr lang="en-US" dirty="0"/>
              <a:t> "How to Measure Storage Efficiency – Part II – Taxes". Blogs.netapp.com. August 14, 2009. Archived from the original on July 20, 2011. Retrieved April 26, 2012.</a:t>
            </a:r>
          </a:p>
          <a:p>
            <a:r>
              <a:rPr lang="en-US" dirty="0"/>
              <a:t> "Low-Level Formatting". Archived from the original on June 4, 2017. Retrieved June 28, 2010.</a:t>
            </a:r>
          </a:p>
          <a:p>
            <a:r>
              <a:rPr lang="en-US" dirty="0"/>
              <a:t> "Storage Solutions Guide" (PDF). Seagate. October 2012. Archived from the original (PDF) on June 20, 2013. Retrieved June 8, 2013.</a:t>
            </a:r>
          </a:p>
          <a:p>
            <a:r>
              <a:rPr lang="en-US" dirty="0"/>
              <a:t> "MKxx33GSG MK1235GSL r1" (PDF). Toshiba. Archived from the original (PDF) on November 22, 2009. Retrieved January 7, 2013.</a:t>
            </a:r>
          </a:p>
          <a:p>
            <a:r>
              <a:rPr lang="en-US" dirty="0"/>
              <a:t> "650 RAMAC announcement".</a:t>
            </a:r>
          </a:p>
          <a:p>
            <a:r>
              <a:rPr lang="en-US" dirty="0"/>
              <a:t> </a:t>
            </a:r>
            <a:r>
              <a:rPr lang="en-US" dirty="0" err="1"/>
              <a:t>Mulvany</a:t>
            </a:r>
            <a:r>
              <a:rPr lang="en-US" dirty="0"/>
              <a:t>, R.B., "Engineering Design of a Disk Storage Facility with Data Modules". IBM JRD, November 1974</a:t>
            </a:r>
          </a:p>
          <a:p>
            <a:r>
              <a:rPr lang="en-US" dirty="0"/>
              <a:t> Introduction to IBM Direct Access Storage Devices, M. </a:t>
            </a:r>
            <a:r>
              <a:rPr lang="en-US" dirty="0" err="1"/>
              <a:t>Bohl</a:t>
            </a:r>
            <a:r>
              <a:rPr lang="en-US" dirty="0"/>
              <a:t>, IBM publication SR20-4738. 1981.</a:t>
            </a:r>
          </a:p>
          <a:p>
            <a:r>
              <a:rPr lang="en-US" dirty="0"/>
              <a:t> CDC Product Line Card, October 1974.</a:t>
            </a:r>
          </a:p>
          <a:p>
            <a:r>
              <a:rPr lang="en-US" dirty="0"/>
              <a:t> Apple Support Team. "How OS X and iOS report storage capacity". Apple, Inc.</a:t>
            </a:r>
          </a:p>
          <a:p>
            <a:r>
              <a:rPr lang="en-US" dirty="0"/>
              <a:t> "df(1) – Linux man page". linux.die.net. Retrieved July 18, 2015.</a:t>
            </a:r>
          </a:p>
          <a:p>
            <a:r>
              <a:rPr lang="en-US" dirty="0"/>
              <a:t> "Western Digital Settles Hard-Drive Capacity Lawsuit, Associated Press June 28, 2006". Fox News. March 22, 2001. Retrieved May 24, 2019.</a:t>
            </a:r>
          </a:p>
          <a:p>
            <a:r>
              <a:rPr lang="en-US" dirty="0"/>
              <a:t> October 26, 2007 by Phil </a:t>
            </a:r>
            <a:r>
              <a:rPr lang="en-US" dirty="0" err="1"/>
              <a:t>Cogar</a:t>
            </a:r>
            <a:r>
              <a:rPr lang="en-US" dirty="0"/>
              <a:t> (October 26, 2007). "Seagate lawsuit concludes, settlement announced". Bit-tech.net. Retrieved April 26, 2012.</a:t>
            </a:r>
          </a:p>
          <a:p>
            <a:r>
              <a:rPr lang="en-US" dirty="0"/>
              <a:t> "Western Digital – Notice of Class Action Settlement email". Xtremesystems.org. Retrieved April 26, 2012.</a:t>
            </a:r>
          </a:p>
          <a:p>
            <a:r>
              <a:rPr lang="en-US" dirty="0"/>
              <a:t> "Hard Drive Cost Per Gigabyte". </a:t>
            </a:r>
            <a:r>
              <a:rPr lang="en-US" dirty="0" err="1"/>
              <a:t>Backblaze</a:t>
            </a:r>
            <a:r>
              <a:rPr lang="en-US" dirty="0"/>
              <a:t>. Retrieved May 26, 2019.</a:t>
            </a:r>
          </a:p>
          <a:p>
            <a:r>
              <a:rPr lang="en-US" dirty="0"/>
              <a:t> Emerson W. Pugh, Lyle R. Johnson, John H. Palmer IBM's 360 and early 370 systems MIT Press, 1991 ISBN 0-262-16123-0, page 266.</a:t>
            </a:r>
          </a:p>
          <a:p>
            <a:r>
              <a:rPr lang="en-US" dirty="0"/>
              <a:t> Flash price fall shakes HDD market, </a:t>
            </a:r>
            <a:r>
              <a:rPr lang="en-US" dirty="0" err="1"/>
              <a:t>EETimes</a:t>
            </a:r>
            <a:r>
              <a:rPr lang="en-US" dirty="0"/>
              <a:t> Asia, August 1, 2007. Archived February 1, 2008, at the </a:t>
            </a:r>
            <a:r>
              <a:rPr lang="en-US" dirty="0" err="1"/>
              <a:t>Wayback</a:t>
            </a:r>
            <a:r>
              <a:rPr lang="en-US" dirty="0"/>
              <a:t> Machine</a:t>
            </a:r>
          </a:p>
          <a:p>
            <a:r>
              <a:rPr lang="en-US" dirty="0"/>
              <a:t> In 2008 Samsung introduced the 1.3-inch </a:t>
            </a:r>
            <a:r>
              <a:rPr lang="en-US" dirty="0" err="1"/>
              <a:t>SpinPoint</a:t>
            </a:r>
            <a:r>
              <a:rPr lang="en-US" dirty="0"/>
              <a:t> A1 HDD but by March 2009 the family was listed as End Of Life Products and new 1.3-inch models were not available in this size. Archived February 11, 2009, at the </a:t>
            </a:r>
            <a:r>
              <a:rPr lang="en-US" dirty="0" err="1"/>
              <a:t>Wayback</a:t>
            </a:r>
            <a:r>
              <a:rPr lang="en-US" dirty="0"/>
              <a:t> Machine</a:t>
            </a:r>
          </a:p>
          <a:p>
            <a:r>
              <a:rPr lang="en-US" dirty="0"/>
              <a:t> Kearns, Dave (April 18, 2001). "How to defrag". </a:t>
            </a:r>
            <a:r>
              <a:rPr lang="en-US" dirty="0" err="1"/>
              <a:t>ITWorld</a:t>
            </a:r>
            <a:r>
              <a:rPr lang="en-US" dirty="0"/>
              <a:t>.</a:t>
            </a:r>
          </a:p>
          <a:p>
            <a:r>
              <a:rPr lang="en-US" dirty="0"/>
              <a:t> </a:t>
            </a:r>
            <a:r>
              <a:rPr lang="en-US" dirty="0" err="1"/>
              <a:t>Broida</a:t>
            </a:r>
            <a:r>
              <a:rPr lang="en-US" dirty="0"/>
              <a:t>, Rick (April 10, 2009). "Turning Off Disk Defragmenter May Solve a Sluggish PC". </a:t>
            </a:r>
            <a:r>
              <a:rPr lang="en-US" dirty="0" err="1"/>
              <a:t>PCWorld</a:t>
            </a:r>
            <a:r>
              <a:rPr lang="en-US" dirty="0"/>
              <a:t>.</a:t>
            </a:r>
          </a:p>
          <a:p>
            <a:r>
              <a:rPr lang="en-US" dirty="0"/>
              <a:t> "Speed Considerations". Seagate. Archived from the original on February 10, 2011. Retrieved January 22, 2011.</a:t>
            </a:r>
          </a:p>
          <a:p>
            <a:r>
              <a:rPr lang="en-US" dirty="0"/>
              <a:t> "GLOSSARY of DRIVE and COMPUTER TERMS". Seagate. Retrieved August 4, 2018.</a:t>
            </a:r>
          </a:p>
          <a:p>
            <a:r>
              <a:rPr lang="en-US" dirty="0"/>
              <a:t> Albrecht, Thomas R.; Arora, Hitesh; </a:t>
            </a:r>
            <a:r>
              <a:rPr lang="en-US" dirty="0" err="1"/>
              <a:t>Ayanoor-Vitikkate</a:t>
            </a:r>
            <a:r>
              <a:rPr lang="en-US" dirty="0"/>
              <a:t>, Vipin; </a:t>
            </a:r>
            <a:r>
              <a:rPr lang="en-US" dirty="0" err="1"/>
              <a:t>Beaujour</a:t>
            </a:r>
            <a:r>
              <a:rPr lang="en-US" dirty="0"/>
              <a:t>, Jean-Marc; </a:t>
            </a:r>
            <a:r>
              <a:rPr lang="en-US" dirty="0" err="1"/>
              <a:t>Bedau</a:t>
            </a:r>
            <a:r>
              <a:rPr lang="en-US" dirty="0"/>
              <a:t>, Daniel; Berman, David; Bogdanov, Alexei L.; </a:t>
            </a:r>
            <a:r>
              <a:rPr lang="en-US" dirty="0" err="1"/>
              <a:t>Chapuis</a:t>
            </a:r>
            <a:r>
              <a:rPr lang="en-US" dirty="0"/>
              <a:t>, Yves-Andre; </a:t>
            </a:r>
            <a:r>
              <a:rPr lang="en-US" dirty="0" err="1"/>
              <a:t>Cushen</a:t>
            </a:r>
            <a:r>
              <a:rPr lang="en-US" dirty="0"/>
              <a:t>, Julia; </a:t>
            </a:r>
            <a:r>
              <a:rPr lang="en-US" dirty="0" err="1"/>
              <a:t>Dobisz</a:t>
            </a:r>
            <a:r>
              <a:rPr lang="en-US" dirty="0"/>
              <a:t>, Elizabeth E.; </a:t>
            </a:r>
            <a:r>
              <a:rPr lang="en-US" dirty="0" err="1"/>
              <a:t>Doerk</a:t>
            </a:r>
            <a:r>
              <a:rPr lang="en-US" dirty="0"/>
              <a:t>, Gregory; He Gao; </a:t>
            </a:r>
            <a:r>
              <a:rPr lang="en-US" dirty="0" err="1"/>
              <a:t>Grobis</a:t>
            </a:r>
            <a:r>
              <a:rPr lang="en-US" dirty="0"/>
              <a:t>, Michael; Gurney, Bruce; Hanson, Weldon; </a:t>
            </a:r>
            <a:r>
              <a:rPr lang="en-US" dirty="0" err="1"/>
              <a:t>Hellwig</a:t>
            </a:r>
            <a:r>
              <a:rPr lang="en-US" dirty="0"/>
              <a:t>, Olav; Hirano, </a:t>
            </a:r>
            <a:r>
              <a:rPr lang="en-US" dirty="0" err="1"/>
              <a:t>Toshiki</a:t>
            </a:r>
            <a:r>
              <a:rPr lang="en-US" dirty="0"/>
              <a:t>; </a:t>
            </a:r>
            <a:r>
              <a:rPr lang="en-US" dirty="0" err="1"/>
              <a:t>Jubert</a:t>
            </a:r>
            <a:r>
              <a:rPr lang="en-US" dirty="0"/>
              <a:t>, Pierre-Olivier; Kercher, Dan; Lille, Jeffrey; </a:t>
            </a:r>
            <a:r>
              <a:rPr lang="en-US" dirty="0" err="1"/>
              <a:t>Zuwei</a:t>
            </a:r>
            <a:r>
              <a:rPr lang="en-US" dirty="0"/>
              <a:t> Liu; Mate, C. Mathew; </a:t>
            </a:r>
            <a:r>
              <a:rPr lang="en-US" dirty="0" err="1"/>
              <a:t>Obukhov</a:t>
            </a:r>
            <a:r>
              <a:rPr lang="en-US" dirty="0"/>
              <a:t>, Yuri; Patel, </a:t>
            </a:r>
            <a:r>
              <a:rPr lang="en-US" dirty="0" err="1"/>
              <a:t>Kanaiyalal</a:t>
            </a:r>
            <a:r>
              <a:rPr lang="en-US" dirty="0"/>
              <a:t> C.; Rubin, Kurt; Ruiz, Ricardo; </a:t>
            </a:r>
            <a:r>
              <a:rPr lang="en-US" dirty="0" err="1"/>
              <a:t>Schabes</a:t>
            </a:r>
            <a:r>
              <a:rPr lang="en-US" dirty="0"/>
              <a:t>, Manfred; Lei Wan; Weller, Dieter; et al. (2015). "Bit Patterned Magnetic Recording: Theory, Media Fabrication, and Recording Performance". IEEE Transactions on Magnetics. HGST, a Western Digital Company. 51 (5): 1–42. arXiv:1503.06664. Bibcode:2015ITM....5197880A. doi:10.1109/TMAG.2015.2397880.</a:t>
            </a:r>
          </a:p>
          <a:p>
            <a:r>
              <a:rPr lang="en-US" dirty="0"/>
              <a:t> "Reed Solomon Codes – Introduction". Archived from the original on July 8, 2011.</a:t>
            </a:r>
          </a:p>
          <a:p>
            <a:r>
              <a:rPr lang="en-US" dirty="0"/>
              <a:t> </a:t>
            </a:r>
            <a:r>
              <a:rPr lang="en-US" dirty="0" err="1"/>
              <a:t>Mueler</a:t>
            </a:r>
            <a:r>
              <a:rPr lang="en-US" dirty="0"/>
              <a:t>, Scott. "Micro House PC Hardware Library Volume I: Hard Drives". Macmillan Computer Publishing. Retrieved May 24, 2019.</a:t>
            </a:r>
          </a:p>
          <a:p>
            <a:r>
              <a:rPr lang="en-US" dirty="0"/>
              <a:t> "Ruggedized Disk Drives for Commercial Airborne Computer Systems" (PDF). Archived from the original (PDF) on May 4, 2012.</a:t>
            </a:r>
          </a:p>
          <a:p>
            <a:r>
              <a:rPr lang="en-US" dirty="0"/>
              <a:t> </a:t>
            </a:r>
            <a:r>
              <a:rPr lang="en-US" dirty="0" err="1"/>
              <a:t>Grabianowski</a:t>
            </a:r>
            <a:r>
              <a:rPr lang="en-US" dirty="0"/>
              <a:t>, Ed. "How To Recover Lost Data from Your Hard Drive". HowStuffWorks. pp. 5–6. Retrieved October 24, 2012.</a:t>
            </a:r>
          </a:p>
          <a:p>
            <a:r>
              <a:rPr lang="en-US" dirty="0"/>
              <a:t> "Everything You Know About Disks Is Wrong". Storagemojo.com. February 22, 2007. Retrieved May 24, 2019.</a:t>
            </a:r>
          </a:p>
          <a:p>
            <a:r>
              <a:rPr lang="en-US" dirty="0"/>
              <a:t> Eduardo Pinheiro; Wolf-Dietrich Weber; Luiz André Barroso (February 2007). "Failure Trends in a Large Disk Drive Population" (PDF). Google Inc. Retrieved December 26, 2011.</a:t>
            </a:r>
          </a:p>
          <a:p>
            <a:r>
              <a:rPr lang="en-US" dirty="0"/>
              <a:t> Investigation: Is Your SSD More Reliable Than A Hard Drive? – Tom's Hardware long term SSD reliability review, 2011, "final words"</a:t>
            </a:r>
          </a:p>
          <a:p>
            <a:r>
              <a:rPr lang="en-US" dirty="0"/>
              <a:t> Anthony, Sebastian. "Using SMART to accurately predict when a hard drive is about to die". </a:t>
            </a:r>
            <a:r>
              <a:rPr lang="en-US" dirty="0" err="1"/>
              <a:t>ExtremeTech</a:t>
            </a:r>
            <a:r>
              <a:rPr lang="en-US" dirty="0"/>
              <a:t>. Retrieved August 25, 2015.</a:t>
            </a:r>
          </a:p>
          <a:p>
            <a:r>
              <a:rPr lang="en-US" dirty="0"/>
              <a:t> "Consumer hard drives as reliable as enterprise hardware". </a:t>
            </a:r>
            <a:r>
              <a:rPr lang="en-US" dirty="0" err="1"/>
              <a:t>Alphr</a:t>
            </a:r>
            <a:r>
              <a:rPr lang="en-US" dirty="0"/>
              <a:t>. Retrieved August 25, 2015.</a:t>
            </a:r>
          </a:p>
          <a:p>
            <a:r>
              <a:rPr lang="en-US" dirty="0"/>
              <a:t> Beach, Brian. "Enterprise Drives: Fact or Fiction?". </a:t>
            </a:r>
            <a:r>
              <a:rPr lang="en-US" dirty="0" err="1"/>
              <a:t>Backblaze</a:t>
            </a:r>
            <a:r>
              <a:rPr lang="en-US" dirty="0"/>
              <a:t>. Retrieved August 25, 2015.</a:t>
            </a:r>
          </a:p>
          <a:p>
            <a:r>
              <a:rPr lang="en-US" dirty="0"/>
              <a:t> "16 TB MAMR Hard Drives in 2019: Western Digital".</a:t>
            </a:r>
          </a:p>
          <a:p>
            <a:r>
              <a:rPr lang="en-US" dirty="0"/>
              <a:t> "Enterprise-class versus Desktop class Hard Drives" (PDF). Intel. Retrieved September 25, 2013.</a:t>
            </a:r>
          </a:p>
          <a:p>
            <a:r>
              <a:rPr lang="en-US" dirty="0"/>
              <a:t> Seagate Cheetah 15K.5 Data Sheet</a:t>
            </a:r>
          </a:p>
          <a:p>
            <a:r>
              <a:rPr lang="en-US" dirty="0"/>
              <a:t> Martin K. Petersen (August 30, 2008). "Linux Data Integrity" (PDF). Oracle Corporation. Archived from the original (PDF) on January 9, 2015. Retrieved January 23, 2015. Most disk drives use 512-byte sectors. [...] Enterprise drives (Parallel SCSI/SAS/FC) support 520/528 byte 'fat' sectors.</a:t>
            </a:r>
          </a:p>
          <a:p>
            <a:r>
              <a:rPr lang="en-US" dirty="0"/>
              <a:t> "2018 Hard Disk Drive Results". Forbes. Retrieved May 26, 2019.</a:t>
            </a:r>
          </a:p>
          <a:p>
            <a:r>
              <a:rPr lang="en-US" dirty="0"/>
              <a:t> Anton </a:t>
            </a:r>
            <a:r>
              <a:rPr lang="en-US" dirty="0" err="1"/>
              <a:t>Shilov</a:t>
            </a:r>
            <a:r>
              <a:rPr lang="en-US" dirty="0"/>
              <a:t> (March 2, 2016). "Hard Drive Shipments Drop by Nearly 17% in 2015". Retrieved July 5, 2016.</a:t>
            </a:r>
          </a:p>
          <a:p>
            <a:r>
              <a:rPr lang="en-US" dirty="0"/>
              <a:t> Overview (January 31, 2019). "Samsung SSD 970 EVO | Samsung V-NAND Consumer SSD". Samsung.com. Retrieved February 20, 2019.</a:t>
            </a:r>
          </a:p>
          <a:p>
            <a:r>
              <a:rPr lang="en-US" dirty="0"/>
              <a:t> "Intel </a:t>
            </a:r>
            <a:r>
              <a:rPr lang="en-US" dirty="0" err="1"/>
              <a:t>Optane</a:t>
            </a:r>
            <a:r>
              <a:rPr lang="en-US" dirty="0"/>
              <a:t> SSD 900P Series Review". StorageReview.com. March 16, 2018. Retrieved February 20, 2019.</a:t>
            </a:r>
          </a:p>
          <a:p>
            <a:r>
              <a:rPr lang="en-US" dirty="0"/>
              <a:t> Alcorn, Paul (March 19, 2018). "Need A 100TB SSD? Nimbus Data Has You Covered With The </a:t>
            </a:r>
            <a:r>
              <a:rPr lang="en-US" dirty="0" err="1"/>
              <a:t>ExaDrive</a:t>
            </a:r>
            <a:r>
              <a:rPr lang="en-US" dirty="0"/>
              <a:t> DC100". Tomshardware.com. Retrieved February 20, 2019.</a:t>
            </a:r>
          </a:p>
          <a:p>
            <a:r>
              <a:rPr lang="en-US" dirty="0"/>
              <a:t> "You won't be able to afford Samsung's record-setting 30TB SSD". Bgr.com. February 20, 2018. Retrieved February 20, 2019.</a:t>
            </a:r>
          </a:p>
          <a:p>
            <a:r>
              <a:rPr lang="en-US" dirty="0"/>
              <a:t> Circuit Breaker. "Samsung unveils world's largest SSD with whopping 30TB of storage". The Verge. Retrieved February 20, 2019.</a:t>
            </a:r>
          </a:p>
          <a:p>
            <a:r>
              <a:rPr lang="en-US" dirty="0"/>
              <a:t> "Advantages". Nimbus Data. Retrieved February 20, 2019.</a:t>
            </a:r>
          </a:p>
          <a:p>
            <a:r>
              <a:rPr lang="en-US" dirty="0"/>
              <a:t> "Scalable SSDs". Nimbus Data. Retrieved February 20, 2019.</a:t>
            </a:r>
          </a:p>
          <a:p>
            <a:r>
              <a:rPr lang="en-US" dirty="0"/>
              <a:t> "Samsung's massive 15TB SSD can be yours - for about $10K". Computerworld. July 27, 2016. Retrieved February 20, 2019.</a:t>
            </a:r>
          </a:p>
          <a:p>
            <a:r>
              <a:rPr lang="en-US" dirty="0"/>
              <a:t> Bedford, Tom (December 4, 2018). "Seagate reveals world's largest, and most ludicrous 16TB HDD". </a:t>
            </a:r>
            <a:r>
              <a:rPr lang="en-US" dirty="0" err="1"/>
              <a:t>Alphr</a:t>
            </a:r>
            <a:r>
              <a:rPr lang="en-US" dirty="0"/>
              <a:t>. Retrieved December 24, 2018.</a:t>
            </a:r>
          </a:p>
          <a:p>
            <a:r>
              <a:rPr lang="en-US" dirty="0"/>
              <a:t> Coughlin, Tom (June 7, 2016). "3D NAND Enables Larger Consumer SSDs". forbes.com. Retrieved July 4, 2016.</a:t>
            </a:r>
          </a:p>
          <a:p>
            <a:r>
              <a:rPr lang="en-US" dirty="0"/>
              <a:t> "Seagate Backup Plus External Hard Drive Review (8TB)". storagereview.com. Retrieved July 20, 2015.</a:t>
            </a:r>
          </a:p>
          <a:p>
            <a:r>
              <a:rPr lang="en-US" dirty="0"/>
              <a:t> "Back Up Your Important Data to External Hard disk drive | Biometric Safe | Info and Products Reviews about Biometric Security Device –". Biometricsecurityproducts.org. July 26, 2011. Archived from the original on May 25, 2012. Retrieved April 26, 2012.</a:t>
            </a:r>
          </a:p>
          <a:p>
            <a:r>
              <a:rPr lang="en-US" dirty="0"/>
              <a:t> "Western Digital My Passport, 2 TB". hwigroup.net. Retrieved January 11, 2014. Example of a pre-assembled external hard disk drive without its enclosure that cannot be used internally on a laptop or desktop due to the embedded interface on its printed circuit board</a:t>
            </a:r>
          </a:p>
          <a:p>
            <a:r>
              <a:rPr lang="en-US" dirty="0"/>
              <a:t> </a:t>
            </a:r>
            <a:r>
              <a:rPr lang="en-US" dirty="0" err="1"/>
              <a:t>Sebean</a:t>
            </a:r>
            <a:r>
              <a:rPr lang="en-US" dirty="0"/>
              <a:t> </a:t>
            </a:r>
            <a:r>
              <a:rPr lang="en-US" dirty="0" err="1"/>
              <a:t>Hsiung</a:t>
            </a:r>
            <a:r>
              <a:rPr lang="en-US" dirty="0"/>
              <a:t> (May 5, 2010). "How to bypass USB controller and use as a SATA drive". datarecoverytools.co.uk. Retrieved January 11, 2014.</a:t>
            </a:r>
          </a:p>
        </p:txBody>
      </p:sp>
    </p:spTree>
    <p:extLst>
      <p:ext uri="{BB962C8B-B14F-4D97-AF65-F5344CB8AC3E}">
        <p14:creationId xmlns:p14="http://schemas.microsoft.com/office/powerpoint/2010/main" val="17013792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TotalTime>
  <Words>4445</Words>
  <Application>Microsoft Office PowerPoint</Application>
  <PresentationFormat>Widescreen</PresentationFormat>
  <Paragraphs>151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HDD ( hard (magnetic) disk drive) Secondary memory storage device </vt:lpstr>
      <vt:lpstr>HDD major components</vt:lpstr>
      <vt:lpstr>200MB HDD under microscope </vt:lpstr>
      <vt:lpstr>How data is read out of the HDD on platter</vt:lpstr>
      <vt:lpstr>Thank you for your attention</vt:lpstr>
      <vt:lpstr>Reference 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Computers </dc:title>
  <dc:creator>Anvar Adylov</dc:creator>
  <cp:lastModifiedBy>Anvar Adylov</cp:lastModifiedBy>
  <cp:revision>4</cp:revision>
  <dcterms:created xsi:type="dcterms:W3CDTF">2019-09-13T08:12:16Z</dcterms:created>
  <dcterms:modified xsi:type="dcterms:W3CDTF">2019-09-13T08:52:46Z</dcterms:modified>
</cp:coreProperties>
</file>